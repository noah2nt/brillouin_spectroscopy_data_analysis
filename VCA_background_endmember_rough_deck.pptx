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c5b2c22b0740e7" /><Relationship Type="http://schemas.openxmlformats.org/officeDocument/2006/relationships/extended-properties" Target="/docProps/app.xml" Id="Rf22c7d5afbcc4fdc" /><Relationship Type="http://schemas.openxmlformats.org/officeDocument/2006/relationships/officeDocument" Target="/ppt/presentation.xml" Id="Rec054ed0104147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3c9d6f7bd64c1f"/>
  </p:sldMasterIdLst>
  <p:notesMasterIdLst>
    <p:notesMasterId xmlns:r="http://schemas.openxmlformats.org/officeDocument/2006/relationships" r:id="R360b80cb6ceb4aa2"/>
  </p:notesMasterIdLst>
  <p:sldIdLst>
    <p:sldId xmlns:r="http://schemas.openxmlformats.org/officeDocument/2006/relationships" id="256" r:id="R1ee995012aa24f73"/>
    <p:sldId xmlns:r="http://schemas.openxmlformats.org/officeDocument/2006/relationships" id="257" r:id="Rd021d8babecb4c80"/>
    <p:sldId xmlns:r="http://schemas.openxmlformats.org/officeDocument/2006/relationships" id="258" r:id="Rad0952027ba64445"/>
    <p:sldId xmlns:r="http://schemas.openxmlformats.org/officeDocument/2006/relationships" id="259" r:id="R2b089a83f49e4e29"/>
    <p:sldId xmlns:r="http://schemas.openxmlformats.org/officeDocument/2006/relationships" id="260" r:id="Rabe6b1861c414f19"/>
    <p:sldId xmlns:r="http://schemas.openxmlformats.org/officeDocument/2006/relationships" id="261" r:id="R522563e1c15a4a52"/>
    <p:sldId xmlns:r="http://schemas.openxmlformats.org/officeDocument/2006/relationships" id="262" r:id="Rda1af55626724d99"/>
    <p:sldId xmlns:r="http://schemas.openxmlformats.org/officeDocument/2006/relationships" id="263" r:id="R73c2f46ca5344bbb"/>
    <p:sldId xmlns:r="http://schemas.openxmlformats.org/officeDocument/2006/relationships" id="264" r:id="R18d00e3640b347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9b7888d6b94f76" /><Relationship Type="http://schemas.openxmlformats.org/officeDocument/2006/relationships/slideMaster" Target="/ppt/slideMasters/slideMaster1.xml" Id="R823c9d6f7bd64c1f" /><Relationship Type="http://schemas.openxmlformats.org/officeDocument/2006/relationships/notesMaster" Target="/ppt/notesMasters/notesMaster1.xml" Id="R360b80cb6ceb4aa2" /><Relationship Type="http://schemas.openxmlformats.org/officeDocument/2006/relationships/presProps" Target="/ppt/presProps.xml" Id="R7a7fd6e29577421b" /><Relationship Type="http://schemas.openxmlformats.org/officeDocument/2006/relationships/tableStyles" Target="/ppt/tableStyles.xml" Id="Rda5841c0a54b4aad" /><Relationship Type="http://schemas.openxmlformats.org/officeDocument/2006/relationships/slide" Target="/ppt/slides/slide1.xml" Id="R1ee995012aa24f73" /><Relationship Type="http://schemas.openxmlformats.org/officeDocument/2006/relationships/slide" Target="/ppt/slides/slide2.xml" Id="Rd021d8babecb4c80" /><Relationship Type="http://schemas.openxmlformats.org/officeDocument/2006/relationships/slide" Target="/ppt/slides/slide3.xml" Id="Rad0952027ba64445" /><Relationship Type="http://schemas.openxmlformats.org/officeDocument/2006/relationships/slide" Target="/ppt/slides/slide4.xml" Id="R2b089a83f49e4e29" /><Relationship Type="http://schemas.openxmlformats.org/officeDocument/2006/relationships/slide" Target="/ppt/slides/slide5.xml" Id="Rabe6b1861c414f19" /><Relationship Type="http://schemas.openxmlformats.org/officeDocument/2006/relationships/slide" Target="/ppt/slides/slide6.xml" Id="R522563e1c15a4a52" /><Relationship Type="http://schemas.openxmlformats.org/officeDocument/2006/relationships/slide" Target="/ppt/slides/slide7.xml" Id="Rda1af55626724d99" /><Relationship Type="http://schemas.openxmlformats.org/officeDocument/2006/relationships/slide" Target="/ppt/slides/slide8.xml" Id="R73c2f46ca5344bbb" /><Relationship Type="http://schemas.openxmlformats.org/officeDocument/2006/relationships/slide" Target="/ppt/slides/slide9.xml" Id="R18d00e3640b347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9569bc738b41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fa6bd024fd46b1" /><Relationship Type="http://schemas.openxmlformats.org/officeDocument/2006/relationships/notesMaster" Target="/ppt/notesMasters/notesMaster1.xml" Id="R100643a40c5743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1608e21a1f44a4" /><Relationship Type="http://schemas.openxmlformats.org/officeDocument/2006/relationships/notesMaster" Target="/ppt/notesMasters/notesMaster1.xml" Id="Rc0822a088cd54c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40a077106b4211" /><Relationship Type="http://schemas.openxmlformats.org/officeDocument/2006/relationships/notesMaster" Target="/ppt/notesMasters/notesMaster1.xml" Id="R86cacd92a3d544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0d3e8165544a5f" /><Relationship Type="http://schemas.openxmlformats.org/officeDocument/2006/relationships/notesMaster" Target="/ppt/notesMasters/notesMaster1.xml" Id="Ra2af9e1bf1374c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f5d44387a541d0" /><Relationship Type="http://schemas.openxmlformats.org/officeDocument/2006/relationships/notesMaster" Target="/ppt/notesMasters/notesMaster1.xml" Id="R4c348ddb1b7f4f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89ae630a2e4845" /><Relationship Type="http://schemas.openxmlformats.org/officeDocument/2006/relationships/notesMaster" Target="/ppt/notesMasters/notesMaster1.xml" Id="Ra61dfe7171804d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43ef361302493c" /><Relationship Type="http://schemas.openxmlformats.org/officeDocument/2006/relationships/notesMaster" Target="/ppt/notesMasters/notesMaster1.xml" Id="Rd08be38d007f41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8609653f384a82" /><Relationship Type="http://schemas.openxmlformats.org/officeDocument/2006/relationships/notesMaster" Target="/ppt/notesMasters/notesMaster1.xml" Id="Rf36afbc8bc0941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4d9894b2f44a91" /><Relationship Type="http://schemas.openxmlformats.org/officeDocument/2006/relationships/notesMaster" Target="/ppt/notesMasters/notesMaster1.xml" Id="R0ed6f8f6eb894f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description and methodology (September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description and methodology (September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description and methodology (September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description and methodology (September 2026).</a:t>
            </a:r>
          </a:p>
          <a:p xmlns:a="http://schemas.openxmlformats.org/drawingml/2006/main">
            <a:r>
              <a:t>- Histogram is a schematic visual, not measured project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description and methodology (September 2026).</a:t>
            </a:r>
          </a:p>
          <a:p xmlns:a="http://schemas.openxmlformats.org/drawingml/2006/main">
            <a:r>
              <a:t>- Spectrum is schematic, not measured project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description and methodology (September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description and methodology (September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description and methodology (September 2026).</a:t>
            </a:r>
          </a:p>
          <a:p xmlns:a="http://schemas.openxmlformats.org/drawingml/2006/main">
            <a:r>
              <a:t>- Spectra are schematic, not measured project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description and methodology (September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b89232304141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f826316e6c43e2" /><Relationship Type="http://schemas.openxmlformats.org/officeDocument/2006/relationships/slideLayout" Target="/ppt/slideLayouts/slideLayout1.xml" Id="Rfb738ac0564c48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738ac0564c48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260b83c4140ec" /><Relationship Type="http://schemas.openxmlformats.org/officeDocument/2006/relationships/notesSlide" Target="/ppt/notesSlides/notesSlide1.xml" Id="R5c33ba5fd4244e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f57bc78184b64" /><Relationship Type="http://schemas.openxmlformats.org/officeDocument/2006/relationships/chart" Target="/ppt/slides/charts/chart1.xml" Id="R24484622f2494ad6" /><Relationship Type="http://schemas.openxmlformats.org/officeDocument/2006/relationships/notesSlide" Target="/ppt/notesSlides/notesSlide2.xml" Id="R9a65d33f508841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dcbba12464b89" /><Relationship Type="http://schemas.openxmlformats.org/officeDocument/2006/relationships/notesSlide" Target="/ppt/notesSlides/notesSlide3.xml" Id="Rf9e2fbfac86940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05fb9c91d455d" /><Relationship Type="http://schemas.openxmlformats.org/officeDocument/2006/relationships/notesSlide" Target="/ppt/notesSlides/notesSlide4.xml" Id="Rc92555bc815640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8d65d74364bce" /><Relationship Type="http://schemas.openxmlformats.org/officeDocument/2006/relationships/chart" Target="/ppt/slides/charts/chart2.xml" Id="R590664aa85bc4616" /><Relationship Type="http://schemas.openxmlformats.org/officeDocument/2006/relationships/notesSlide" Target="/ppt/notesSlides/notesSlide5.xml" Id="R36d5caca63d24f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f26a948ca49a1" /><Relationship Type="http://schemas.openxmlformats.org/officeDocument/2006/relationships/notesSlide" Target="/ppt/notesSlides/notesSlide6.xml" Id="R231f3359cf3a4a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eefa7772347de" /><Relationship Type="http://schemas.openxmlformats.org/officeDocument/2006/relationships/notesSlide" Target="/ppt/notesSlides/notesSlide7.xml" Id="R7e396e39fe744e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caf4dece74a51" /><Relationship Type="http://schemas.openxmlformats.org/officeDocument/2006/relationships/chart" Target="/ppt/slides/charts/chart3.xml" Id="Rf37ddb3d02fd483f" /><Relationship Type="http://schemas.openxmlformats.org/officeDocument/2006/relationships/chart" Target="/ppt/slides/charts/chart4.xml" Id="R76f8a7a567444c0f" /><Relationship Type="http://schemas.openxmlformats.org/officeDocument/2006/relationships/notesSlide" Target="/ppt/notesSlides/notesSlide8.xml" Id="R6569fef50bd746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f45ef0ed84f75" /><Relationship Type="http://schemas.openxmlformats.org/officeDocument/2006/relationships/notesSlide" Target="/ppt/notesSlides/notesSlide9.xml" Id="R3f9aeacfbbea4bd6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single pixel spectrum</c:v>
          </c:tx>
          <c:spPr>
            <a:ln xmlns:a="http://schemas.openxmlformats.org/drawingml/2006/main" w="28575">
              <a:solidFill>
                <a:srgbClr val="C00000"/>
              </a:solidFill>
            </a:ln>
          </c:spPr>
          <c:marker>
            <c:symbol val="none"/>
          </c:marker>
          <c:cat>
            <c:numLit>
              <c:formatCode>General</c:formatCode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cat>
          <c:val>
            <c:numLit>
              <c:formatCode>General</c:formatCode>
              <c:ptCount val="10"/>
              <c:pt idx="0">
                <c:v>8</c:v>
              </c:pt>
              <c:pt idx="1">
                <c:v>14</c:v>
              </c:pt>
              <c:pt idx="2">
                <c:v>11</c:v>
              </c:pt>
              <c:pt idx="3">
                <c:v>22</c:v>
              </c:pt>
              <c:pt idx="4">
                <c:v>18</c:v>
              </c:pt>
              <c:pt idx="5">
                <c:v>34</c:v>
              </c:pt>
              <c:pt idx="6">
                <c:v>24</c:v>
              </c:pt>
              <c:pt idx="7">
                <c:v>29</c:v>
              </c:pt>
              <c:pt idx="8">
                <c:v>20</c:v>
              </c:pt>
              <c:pt idx="9">
                <c:v>15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summed background</c:v>
          </c:tx>
          <c:spPr>
            <a:ln xmlns:a="http://schemas.openxmlformats.org/drawingml/2006/main" w="38100">
              <a:solidFill>
                <a:srgbClr val="70AD47"/>
              </a:solidFill>
            </a:ln>
          </c:spPr>
          <c:marker>
            <c:symbol val="none"/>
          </c:marker>
          <c:cat>
            <c:numLit>
              <c:formatCode>General</c:formatCode>
              <c:ptCount val="9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</c:numLit>
          </c:cat>
          <c:val>
            <c:numLit>
              <c:formatCode>General</c:formatCode>
              <c:ptCount val="9"/>
              <c:pt idx="0">
                <c:v>5</c:v>
              </c:pt>
              <c:pt idx="1">
                <c:v>7</c:v>
              </c:pt>
              <c:pt idx="2">
                <c:v>12</c:v>
              </c:pt>
              <c:pt idx="3">
                <c:v>24</c:v>
              </c:pt>
              <c:pt idx="4">
                <c:v>34</c:v>
              </c:pt>
              <c:pt idx="5">
                <c:v>25</c:v>
              </c:pt>
              <c:pt idx="6">
                <c:v>13</c:v>
              </c:pt>
              <c:pt idx="7">
                <c:v>8</c:v>
              </c:pt>
              <c:pt idx="8">
                <c:v>5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5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measured</c:v>
          </c:tx>
          <c:spPr>
            <a:ln xmlns:a="http://schemas.openxmlformats.org/drawingml/2006/main" w="28575">
              <a:solidFill>
                <a:srgbClr val="151515"/>
              </a:solidFill>
            </a:ln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8</c:v>
              </c:pt>
              <c:pt idx="1">
                <c:v>13</c:v>
              </c:pt>
              <c:pt idx="2">
                <c:v>24</c:v>
              </c:pt>
              <c:pt idx="3">
                <c:v>42</c:v>
              </c:pt>
              <c:pt idx="4">
                <c:v>35</c:v>
              </c:pt>
              <c:pt idx="5">
                <c:v>28</c:v>
              </c:pt>
              <c:pt idx="6">
                <c:v>21</c:v>
              </c:pt>
              <c:pt idx="7">
                <c:v>10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background</c:v>
          </c:tx>
          <c:spPr>
            <a:ln xmlns:a="http://schemas.openxmlformats.org/drawingml/2006/main" w="28575">
              <a:solidFill>
                <a:srgbClr val="70AD47"/>
              </a:solidFill>
            </a:ln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5</c:v>
              </c:pt>
              <c:pt idx="1">
                <c:v>9</c:v>
              </c:pt>
              <c:pt idx="2">
                <c:v>18</c:v>
              </c:pt>
              <c:pt idx="3">
                <c:v>30</c:v>
              </c:pt>
              <c:pt idx="4">
                <c:v>25</c:v>
              </c:pt>
              <c:pt idx="5">
                <c:v>16</c:v>
              </c:pt>
              <c:pt idx="6">
                <c:v>11</c:v>
              </c:pt>
              <c:pt idx="7">
                <c:v>6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1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5BF2174-652D-4C42-9C30-6D6FD534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619125" y="1066800"/>
            <a:ext cx="962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51515"/>
                </a:solidFill>
              </a:defRPr>
            </a:pPr>
            <a:r>
              <a:rPr sz="4350" b="1" i="0">
                <a:solidFill>
                  <a:srgbClr val="151515"/>
                </a:solidFill>
              </a:rPr>
              <a:t>A “new” VCA idea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65BE721-E8C5-4EC3-BFDC-1401E122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876300" y="2095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4472C4"/>
                </a:solidFill>
              </a:defRPr>
            </a:pPr>
            <a:r>
              <a:rPr sz="2175" b="0" i="0">
                <a:solidFill>
                  <a:srgbClr val="4472C4"/>
                </a:solidFill>
              </a:rPr>
              <a:t>make cleaner endmembers by averaging lots of matching pixels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0F77835-E2D6-4061-8D81-B6531087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7143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51515"/>
                </a:solidFill>
              </a:defRPr>
            </a:pPr>
            <a:r>
              <a:rPr sz="2100" b="1" i="0">
                <a:solidFill>
                  <a:srgbClr val="151515"/>
                </a:solidFill>
              </a:rPr>
              <a:t>CURRENTLY: trying to isolate the background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6FF8F33-3DE0-4685-A5FC-C086B378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8102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 i="1">
                <a:solidFill>
                  <a:srgbClr val="777777"/>
                </a:solidFill>
              </a:defRPr>
            </a:pPr>
            <a:r>
              <a:rPr sz="1350" b="0" i="1">
                <a:solidFill>
                  <a:srgbClr val="777777"/>
                </a:solidFill>
              </a:rPr>
              <a:t>Brillouin spectroscopy data analysis</a:t>
            </a:r>
          </a:p>
        </p:txBody>
      </p:sp>
    </p:spTree>
    <p:extLst>
      <p:ext uri="{BB962C8B-B14F-4D97-AF65-F5344CB8AC3E}">
        <p14:creationId xmlns:p14="http://schemas.microsoft.com/office/powerpoint/2010/main" val="17249411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FDEE91-3A63-4E6C-AD0F-1B742DA2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51515"/>
                </a:solidFill>
              </a:defRPr>
            </a:pPr>
            <a:r>
              <a:rPr sz="2850" b="1" i="0">
                <a:solidFill>
                  <a:srgbClr val="151515"/>
                </a:solidFill>
              </a:rPr>
              <a:t>The normal VCA endmember can just be one noisy pixel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E63EA9B-AF6E-49BC-90BE-849D2E29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2388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777777"/>
                </a:solidFill>
              </a:defRPr>
            </a:pPr>
            <a:r>
              <a:rPr sz="1200" b="0" i="0">
                <a:solidFill>
                  <a:srgbClr val="777777"/>
                </a:solidFill>
              </a:rPr>
              <a:t>2</a:t>
            </a:r>
          </a:p>
        </p:txBody>
      </p:sp>
      <p:sp>
        <p:nvSpPr>
          <p:cNvPr id="3" name="scan-grid">
            <a:extLst xmlns:a="http://schemas.openxmlformats.org/drawingml/2006/main">
              <a:ext uri="{FF2B5EF4-FFF2-40B4-BE49-F238E27FC236}">
                <a16:creationId xmlns:a16="http://schemas.microsoft.com/office/drawing/2014/main" id="{AFD9BB1C-0777-4E7B-9232-62287650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00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19050">
            <a:solidFill>
              <a:srgbClr val="151515"/>
            </a:solidFill>
            <a:prstDash val="solid"/>
          </a:ln>
        </p:spPr>
      </p:sp>
      <p:sp>
        <p:nvSpPr>
          <p:cNvPr id="4" name="pixel">
            <a:extLst xmlns:a="http://schemas.openxmlformats.org/drawingml/2006/main">
              <a:ext uri="{FF2B5EF4-FFF2-40B4-BE49-F238E27FC236}">
                <a16:creationId xmlns:a16="http://schemas.microsoft.com/office/drawing/2014/main" id="{7EE24627-E3D9-4729-8141-6D0CDFE7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335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E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pixel">
            <a:extLst xmlns:a="http://schemas.openxmlformats.org/drawingml/2006/main">
              <a:ext uri="{FF2B5EF4-FFF2-40B4-BE49-F238E27FC236}">
                <a16:creationId xmlns:a16="http://schemas.microsoft.com/office/drawing/2014/main" id="{833D8BE6-1F68-499A-AB40-BAACBE83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E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pixel">
            <a:extLst xmlns:a="http://schemas.openxmlformats.org/drawingml/2006/main">
              <a:ext uri="{FF2B5EF4-FFF2-40B4-BE49-F238E27FC236}">
                <a16:creationId xmlns:a16="http://schemas.microsoft.com/office/drawing/2014/main" id="{C38D64A4-C2CC-4158-91C7-31FF82B9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24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E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pixel">
            <a:extLst xmlns:a="http://schemas.openxmlformats.org/drawingml/2006/main">
              <a:ext uri="{FF2B5EF4-FFF2-40B4-BE49-F238E27FC236}">
                <a16:creationId xmlns:a16="http://schemas.microsoft.com/office/drawing/2014/main" id="{59897C74-702A-4204-9FA7-36F0A33B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193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E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pixel">
            <a:extLst xmlns:a="http://schemas.openxmlformats.org/drawingml/2006/main">
              <a:ext uri="{FF2B5EF4-FFF2-40B4-BE49-F238E27FC236}">
                <a16:creationId xmlns:a16="http://schemas.microsoft.com/office/drawing/2014/main" id="{5995F4CE-348B-41DD-BF55-9BC61F3B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14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E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pixel">
            <a:extLst xmlns:a="http://schemas.openxmlformats.org/drawingml/2006/main">
              <a:ext uri="{FF2B5EF4-FFF2-40B4-BE49-F238E27FC236}">
                <a16:creationId xmlns:a16="http://schemas.microsoft.com/office/drawing/2014/main" id="{974854EC-2646-47ED-B97B-734AAE06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099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18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pixel">
            <a:extLst xmlns:a="http://schemas.openxmlformats.org/drawingml/2006/main">
              <a:ext uri="{FF2B5EF4-FFF2-40B4-BE49-F238E27FC236}">
                <a16:creationId xmlns:a16="http://schemas.microsoft.com/office/drawing/2014/main" id="{E803E6FA-4B89-4A04-983D-1EB2EB65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5335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E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pixel">
            <a:extLst xmlns:a="http://schemas.openxmlformats.org/drawingml/2006/main">
              <a:ext uri="{FF2B5EF4-FFF2-40B4-BE49-F238E27FC236}">
                <a16:creationId xmlns:a16="http://schemas.microsoft.com/office/drawing/2014/main" id="{A5135FA8-50D6-4B17-8041-FE8DFF14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E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pixel">
            <a:extLst xmlns:a="http://schemas.openxmlformats.org/drawingml/2006/main">
              <a:ext uri="{FF2B5EF4-FFF2-40B4-BE49-F238E27FC236}">
                <a16:creationId xmlns:a16="http://schemas.microsoft.com/office/drawing/2014/main" id="{438838F2-0150-405B-8D57-DECDF947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24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E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pixel">
            <a:extLst xmlns:a="http://schemas.openxmlformats.org/drawingml/2006/main">
              <a:ext uri="{FF2B5EF4-FFF2-40B4-BE49-F238E27FC236}">
                <a16:creationId xmlns:a16="http://schemas.microsoft.com/office/drawing/2014/main" id="{8CAE8B6F-FBBF-4DD8-8C8F-2A7172B3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193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E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pixel">
            <a:extLst xmlns:a="http://schemas.openxmlformats.org/drawingml/2006/main">
              <a:ext uri="{FF2B5EF4-FFF2-40B4-BE49-F238E27FC236}">
                <a16:creationId xmlns:a16="http://schemas.microsoft.com/office/drawing/2014/main" id="{0E6A7B47-7A36-4B3E-AC8E-3AA6CDC6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14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18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pixel">
            <a:extLst xmlns:a="http://schemas.openxmlformats.org/drawingml/2006/main">
              <a:ext uri="{FF2B5EF4-FFF2-40B4-BE49-F238E27FC236}">
                <a16:creationId xmlns:a16="http://schemas.microsoft.com/office/drawing/2014/main" id="{86156518-1C0F-4C3E-A751-FC7A0657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99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18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pixel">
            <a:extLst xmlns:a="http://schemas.openxmlformats.org/drawingml/2006/main">
              <a:ext uri="{FF2B5EF4-FFF2-40B4-BE49-F238E27FC236}">
                <a16:creationId xmlns:a16="http://schemas.microsoft.com/office/drawing/2014/main" id="{D729A0C3-0B81-4393-BD7E-54D9D97D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5335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E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pixel">
            <a:extLst xmlns:a="http://schemas.openxmlformats.org/drawingml/2006/main">
              <a:ext uri="{FF2B5EF4-FFF2-40B4-BE49-F238E27FC236}">
                <a16:creationId xmlns:a16="http://schemas.microsoft.com/office/drawing/2014/main" id="{21042AFD-EB98-496A-B8D6-26C84F63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E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pixel">
            <a:extLst xmlns:a="http://schemas.openxmlformats.org/drawingml/2006/main">
              <a:ext uri="{FF2B5EF4-FFF2-40B4-BE49-F238E27FC236}">
                <a16:creationId xmlns:a16="http://schemas.microsoft.com/office/drawing/2014/main" id="{42C2BD3C-3078-4BEF-B695-BD6A7E06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24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E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pixel">
            <a:extLst xmlns:a="http://schemas.openxmlformats.org/drawingml/2006/main">
              <a:ext uri="{FF2B5EF4-FFF2-40B4-BE49-F238E27FC236}">
                <a16:creationId xmlns:a16="http://schemas.microsoft.com/office/drawing/2014/main" id="{A60AF465-2BE5-4FE8-BAC0-D4FF2F17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193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18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pixel">
            <a:extLst xmlns:a="http://schemas.openxmlformats.org/drawingml/2006/main">
              <a:ext uri="{FF2B5EF4-FFF2-40B4-BE49-F238E27FC236}">
                <a16:creationId xmlns:a16="http://schemas.microsoft.com/office/drawing/2014/main" id="{988C68C3-3775-411B-8540-61703447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14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18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pixel">
            <a:extLst xmlns:a="http://schemas.openxmlformats.org/drawingml/2006/main">
              <a:ext uri="{FF2B5EF4-FFF2-40B4-BE49-F238E27FC236}">
                <a16:creationId xmlns:a16="http://schemas.microsoft.com/office/drawing/2014/main" id="{0D9C4FE4-5DC2-487F-9BDE-598800B0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099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18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pixel">
            <a:extLst xmlns:a="http://schemas.openxmlformats.org/drawingml/2006/main">
              <a:ext uri="{FF2B5EF4-FFF2-40B4-BE49-F238E27FC236}">
                <a16:creationId xmlns:a16="http://schemas.microsoft.com/office/drawing/2014/main" id="{3289D8A9-E778-4195-B5B9-675F886E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5335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E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pixel">
            <a:extLst xmlns:a="http://schemas.openxmlformats.org/drawingml/2006/main">
              <a:ext uri="{FF2B5EF4-FFF2-40B4-BE49-F238E27FC236}">
                <a16:creationId xmlns:a16="http://schemas.microsoft.com/office/drawing/2014/main" id="{B462A67A-A78E-4A82-8BD6-BA20CA26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E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pixel">
            <a:extLst xmlns:a="http://schemas.openxmlformats.org/drawingml/2006/main">
              <a:ext uri="{FF2B5EF4-FFF2-40B4-BE49-F238E27FC236}">
                <a16:creationId xmlns:a16="http://schemas.microsoft.com/office/drawing/2014/main" id="{91087199-254B-4ED7-A7C5-FA15C96F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24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18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pixel">
            <a:extLst xmlns:a="http://schemas.openxmlformats.org/drawingml/2006/main">
              <a:ext uri="{FF2B5EF4-FFF2-40B4-BE49-F238E27FC236}">
                <a16:creationId xmlns:a16="http://schemas.microsoft.com/office/drawing/2014/main" id="{3D97F482-AA45-4BE4-91B0-759C3353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193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18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pixel">
            <a:extLst xmlns:a="http://schemas.openxmlformats.org/drawingml/2006/main">
              <a:ext uri="{FF2B5EF4-FFF2-40B4-BE49-F238E27FC236}">
                <a16:creationId xmlns:a16="http://schemas.microsoft.com/office/drawing/2014/main" id="{5CC7F7D9-D60A-4E26-B8C3-D00D296D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14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18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pixel">
            <a:extLst xmlns:a="http://schemas.openxmlformats.org/drawingml/2006/main">
              <a:ext uri="{FF2B5EF4-FFF2-40B4-BE49-F238E27FC236}">
                <a16:creationId xmlns:a16="http://schemas.microsoft.com/office/drawing/2014/main" id="{01829EBE-C4CA-4C49-A93E-3274B39C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099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18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8" name="pixel">
            <a:extLst xmlns:a="http://schemas.openxmlformats.org/drawingml/2006/main">
              <a:ext uri="{FF2B5EF4-FFF2-40B4-BE49-F238E27FC236}">
                <a16:creationId xmlns:a16="http://schemas.microsoft.com/office/drawing/2014/main" id="{316F6A73-05F3-4AC8-8148-F30B0987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15335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E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pixel">
            <a:extLst xmlns:a="http://schemas.openxmlformats.org/drawingml/2006/main">
              <a:ext uri="{FF2B5EF4-FFF2-40B4-BE49-F238E27FC236}">
                <a16:creationId xmlns:a16="http://schemas.microsoft.com/office/drawing/2014/main" id="{209081D7-8D59-4E27-8C89-29BED8EA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pixel">
            <a:extLst xmlns:a="http://schemas.openxmlformats.org/drawingml/2006/main">
              <a:ext uri="{FF2B5EF4-FFF2-40B4-BE49-F238E27FC236}">
                <a16:creationId xmlns:a16="http://schemas.microsoft.com/office/drawing/2014/main" id="{196A4F17-A73F-4DB7-B38C-CBD11657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124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18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1" name="pixel">
            <a:extLst xmlns:a="http://schemas.openxmlformats.org/drawingml/2006/main">
              <a:ext uri="{FF2B5EF4-FFF2-40B4-BE49-F238E27FC236}">
                <a16:creationId xmlns:a16="http://schemas.microsoft.com/office/drawing/2014/main" id="{59AF6F57-EB9A-4C46-92CC-FF6DB588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4193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18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pixel">
            <a:extLst xmlns:a="http://schemas.openxmlformats.org/drawingml/2006/main">
              <a:ext uri="{FF2B5EF4-FFF2-40B4-BE49-F238E27FC236}">
                <a16:creationId xmlns:a16="http://schemas.microsoft.com/office/drawing/2014/main" id="{493C2939-5DAC-42A8-A8C1-865E0843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714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18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3" name="pixel">
            <a:extLst xmlns:a="http://schemas.openxmlformats.org/drawingml/2006/main">
              <a:ext uri="{FF2B5EF4-FFF2-40B4-BE49-F238E27FC236}">
                <a16:creationId xmlns:a16="http://schemas.microsoft.com/office/drawing/2014/main" id="{6FD9E6D4-B044-4A01-8EC5-A05752E6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0099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18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pixel">
            <a:extLst xmlns:a="http://schemas.openxmlformats.org/drawingml/2006/main">
              <a:ext uri="{FF2B5EF4-FFF2-40B4-BE49-F238E27FC236}">
                <a16:creationId xmlns:a16="http://schemas.microsoft.com/office/drawing/2014/main" id="{0D023BAD-107D-4B59-98B4-28F1DA4F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5335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18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pixel">
            <a:extLst xmlns:a="http://schemas.openxmlformats.org/drawingml/2006/main">
              <a:ext uri="{FF2B5EF4-FFF2-40B4-BE49-F238E27FC236}">
                <a16:creationId xmlns:a16="http://schemas.microsoft.com/office/drawing/2014/main" id="{AC94374F-45BE-4F39-AA7C-97BD4CDA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828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18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6" name="pixel">
            <a:extLst xmlns:a="http://schemas.openxmlformats.org/drawingml/2006/main">
              <a:ext uri="{FF2B5EF4-FFF2-40B4-BE49-F238E27FC236}">
                <a16:creationId xmlns:a16="http://schemas.microsoft.com/office/drawing/2014/main" id="{01565889-9B99-40AA-B255-4B29FE14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124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18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7" name="pixel">
            <a:extLst xmlns:a="http://schemas.openxmlformats.org/drawingml/2006/main">
              <a:ext uri="{FF2B5EF4-FFF2-40B4-BE49-F238E27FC236}">
                <a16:creationId xmlns:a16="http://schemas.microsoft.com/office/drawing/2014/main" id="{D4247944-EA8E-4BE5-864C-C0D463BE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193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18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8" name="pixel">
            <a:extLst xmlns:a="http://schemas.openxmlformats.org/drawingml/2006/main">
              <a:ext uri="{FF2B5EF4-FFF2-40B4-BE49-F238E27FC236}">
                <a16:creationId xmlns:a16="http://schemas.microsoft.com/office/drawing/2014/main" id="{281CD2F6-6A78-4AC3-87BB-F071EF69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14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18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9" name="pixel">
            <a:extLst xmlns:a="http://schemas.openxmlformats.org/drawingml/2006/main">
              <a:ext uri="{FF2B5EF4-FFF2-40B4-BE49-F238E27FC236}">
                <a16:creationId xmlns:a16="http://schemas.microsoft.com/office/drawing/2014/main" id="{A9C30159-5749-4CBB-ABF4-5C9D7FB7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099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18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D8801C48-6893-45FB-9BA3-7282A168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762000" y="3619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00000"/>
                </a:solidFill>
              </a:defRPr>
            </a:pPr>
            <a:r>
              <a:rPr sz="1650" b="1" i="0">
                <a:solidFill>
                  <a:srgbClr val="C00000"/>
                </a:solidFill>
              </a:rPr>
              <a:t>one selected pixel</a:t>
            </a:r>
          </a:p>
        </p:txBody>
      </p:sp>
      <p:sp>
        <p:nvSpPr>
          <p:cNvPr id="41" name="arrow-line">
            <a:extLst xmlns:a="http://schemas.openxmlformats.org/drawingml/2006/main">
              <a:ext uri="{FF2B5EF4-FFF2-40B4-BE49-F238E27FC236}">
                <a16:creationId xmlns:a16="http://schemas.microsoft.com/office/drawing/2014/main" id="{54A7AB67-4A61-47AD-9624-49E629C3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43150"/>
            <a:ext cx="123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42" name="arrow-head">
            <a:extLst xmlns:a="http://schemas.openxmlformats.org/drawingml/2006/main">
              <a:ext uri="{FF2B5EF4-FFF2-40B4-BE49-F238E27FC236}">
                <a16:creationId xmlns:a16="http://schemas.microsoft.com/office/drawing/2014/main" id="{E4B65FEF-E31B-46A5-ADFD-99906682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2857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</p:sp>
      <p:graphicFrame>
        <p:nvGraphicFramePr>
          <p:cNvPr id="87" name="Chart"/>
          <p:cNvGraphicFramePr/>
          <p:nvPr/>
        </p:nvGraphicFramePr>
        <p:xfrm>
          <a:off xmlns:a="http://schemas.openxmlformats.org/drawingml/2006/main" x="4762500" y="1428750"/>
          <a:ext xmlns:a="http://schemas.openxmlformats.org/drawingml/2006/main" cx="60960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484622f2494ad6"/>
          </a:graphicData>
        </a:graphic>
      </p:graphicFrame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1C71B540-2055-41A4-876B-5BE4ACE7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1047750" y="4905375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51515"/>
                </a:solidFill>
              </a:defRPr>
            </a:pPr>
            <a:r>
              <a:rPr sz="2025" b="1" i="0">
                <a:solidFill>
                  <a:srgbClr val="151515"/>
                </a:solidFill>
              </a:rPr>
              <a:t>Problem: exposure time drives noise, so one pixel is a pretty bad definition of “pure”.</a:t>
            </a:r>
          </a:p>
        </p:txBody>
      </p:sp>
    </p:spTree>
    <p:extLst>
      <p:ext uri="{BB962C8B-B14F-4D97-AF65-F5344CB8AC3E}">
        <p14:creationId xmlns:p14="http://schemas.microsoft.com/office/powerpoint/2010/main" val="10378494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2F0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DACD71-FA55-4631-AA00-07FC02A0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51515"/>
                </a:solidFill>
              </a:defRPr>
            </a:pPr>
            <a:r>
              <a:rPr sz="2850" b="1" i="0">
                <a:solidFill>
                  <a:srgbClr val="151515"/>
                </a:solidFill>
              </a:rPr>
              <a:t>Instead: find 3 “pure” spectra using groups of matching pixels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13E1EEE-0428-4A0F-AFAA-07ED93CB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2388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777777"/>
                </a:solidFill>
              </a:defRPr>
            </a:pPr>
            <a:r>
              <a:rPr sz="1200" b="0" i="0">
                <a:solidFill>
                  <a:srgbClr val="777777"/>
                </a:solidFill>
              </a:rPr>
              <a:t>3</a:t>
            </a:r>
          </a:p>
        </p:txBody>
      </p:sp>
      <p:sp>
        <p:nvSpPr>
          <p:cNvPr id="3" name="endmember-0">
            <a:extLst xmlns:a="http://schemas.openxmlformats.org/drawingml/2006/main">
              <a:ext uri="{FF2B5EF4-FFF2-40B4-BE49-F238E27FC236}">
                <a16:creationId xmlns:a16="http://schemas.microsoft.com/office/drawing/2014/main" id="{936AC632-BB7E-4A32-964F-C91388F6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762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EADBA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F1236B5-F7C8-4019-A518-64D3D5F8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28800"/>
            <a:ext cx="52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9EADBA"/>
                </a:solidFill>
              </a:defRPr>
            </a:pPr>
            <a:r>
              <a:rPr sz="3150" b="1" i="0">
                <a:solidFill>
                  <a:srgbClr val="9EADBA"/>
                </a:solidFill>
              </a:rPr>
              <a:t>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0ACFB7D-52E1-424E-8CCA-A48E631C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71750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51515"/>
                </a:solidFill>
              </a:defRPr>
            </a:pPr>
            <a:r>
              <a:rPr sz="1950" b="1" i="0">
                <a:solidFill>
                  <a:srgbClr val="151515"/>
                </a:solidFill>
              </a:rPr>
              <a:t>BACKGROUND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844707D-1A09-48A7-9AE0-A5EA889B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76625"/>
            <a:ext cx="119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 i="1">
                <a:solidFill>
                  <a:srgbClr val="777777"/>
                </a:solidFill>
              </a:defRPr>
            </a:pPr>
            <a:r>
              <a:rPr sz="1575" b="0" i="1">
                <a:solidFill>
                  <a:srgbClr val="777777"/>
                </a:solidFill>
              </a:rPr>
              <a:t>working now</a:t>
            </a:r>
          </a:p>
        </p:txBody>
      </p:sp>
      <p:sp>
        <p:nvSpPr>
          <p:cNvPr id="7" name="endmember-1">
            <a:extLst xmlns:a="http://schemas.openxmlformats.org/drawingml/2006/main">
              <a:ext uri="{FF2B5EF4-FFF2-40B4-BE49-F238E27FC236}">
                <a16:creationId xmlns:a16="http://schemas.microsoft.com/office/drawing/2014/main" id="{1BC31997-41D9-48DA-9CB6-B12CFA01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14500"/>
            <a:ext cx="2762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AD47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B722F82-4754-43CD-B19B-7981ECA9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28800"/>
            <a:ext cx="52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70AD47"/>
                </a:solidFill>
              </a:defRPr>
            </a:pPr>
            <a:r>
              <a:rPr sz="3150" b="1" i="0">
                <a:solidFill>
                  <a:srgbClr val="70AD47"/>
                </a:solidFill>
              </a:rPr>
              <a:t>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1ACA0DE-CAA9-4FAA-9A0E-31F1595A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71750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51515"/>
                </a:solidFill>
              </a:defRPr>
            </a:pPr>
            <a:r>
              <a:rPr sz="1950" b="1" i="0">
                <a:solidFill>
                  <a:srgbClr val="151515"/>
                </a:solidFill>
              </a:rPr>
              <a:t>CYTOPLASM (?)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C0F4DD9-9F3B-42E6-AD5A-7DC065EC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476625"/>
            <a:ext cx="119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 i="1">
                <a:solidFill>
                  <a:srgbClr val="777777"/>
                </a:solidFill>
              </a:defRPr>
            </a:pPr>
            <a:r>
              <a:rPr sz="1575" b="0" i="1">
                <a:solidFill>
                  <a:srgbClr val="777777"/>
                </a:solidFill>
              </a:rPr>
              <a:t>later</a:t>
            </a:r>
          </a:p>
        </p:txBody>
      </p:sp>
      <p:sp>
        <p:nvSpPr>
          <p:cNvPr id="11" name="endmember-2">
            <a:extLst xmlns:a="http://schemas.openxmlformats.org/drawingml/2006/main">
              <a:ext uri="{FF2B5EF4-FFF2-40B4-BE49-F238E27FC236}">
                <a16:creationId xmlns:a16="http://schemas.microsoft.com/office/drawing/2014/main" id="{CBE4FE53-ADB9-430F-8F34-43E2C161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2762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55A11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6763A91-E1CE-43F7-AF1C-8E9348A0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28800"/>
            <a:ext cx="52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C55A11"/>
                </a:solidFill>
              </a:defRPr>
            </a:pPr>
            <a:r>
              <a:rPr sz="3150" b="1" i="0">
                <a:solidFill>
                  <a:srgbClr val="C55A11"/>
                </a:solidFill>
              </a:rPr>
              <a:t>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7ED0E12-9424-4E9B-ADDC-4F3BD85F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71750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51515"/>
                </a:solidFill>
              </a:defRPr>
            </a:pPr>
            <a:r>
              <a:rPr sz="1950" b="1" i="0">
                <a:solidFill>
                  <a:srgbClr val="151515"/>
                </a:solidFill>
              </a:rPr>
              <a:t>NUCLEUS (?)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44800D8-6AFF-4146-97DF-1546F2E1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76625"/>
            <a:ext cx="119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 i="1">
                <a:solidFill>
                  <a:srgbClr val="777777"/>
                </a:solidFill>
              </a:defRPr>
            </a:pPr>
            <a:r>
              <a:rPr sz="1575" b="0" i="1">
                <a:solidFill>
                  <a:srgbClr val="777777"/>
                </a:solidFill>
              </a:rPr>
              <a:t>later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7EAB1F2-3F2E-413E-9439-711A280D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1695450" y="5000625"/>
            <a:ext cx="8810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51515"/>
                </a:solidFill>
              </a:defRPr>
            </a:pPr>
            <a:r>
              <a:rPr sz="2250" b="1" i="0">
                <a:solidFill>
                  <a:srgbClr val="151515"/>
                </a:solidFill>
              </a:rPr>
              <a:t>many similar pixels  →  add spectra together  →  less noise</a:t>
            </a:r>
          </a:p>
        </p:txBody>
      </p:sp>
    </p:spTree>
    <p:extLst>
      <p:ext uri="{BB962C8B-B14F-4D97-AF65-F5344CB8AC3E}">
        <p14:creationId xmlns:p14="http://schemas.microsoft.com/office/powerpoint/2010/main" val="18120656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1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6D5180-FF83-4BC0-A695-5F5F5723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51515"/>
                </a:solidFill>
              </a:defRPr>
            </a:pPr>
            <a:r>
              <a:rPr sz="2850" b="1" i="0">
                <a:solidFill>
                  <a:srgbClr val="151515"/>
                </a:solidFill>
              </a:rPr>
              <a:t>Step 1: define “probably background” from BFS values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50AB4B9-7353-4A12-8237-A5C14D6D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2388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777777"/>
                </a:solidFill>
              </a:defRPr>
            </a:pPr>
            <a:r>
              <a:rPr sz="1200" b="0" i="0">
                <a:solidFill>
                  <a:srgbClr val="777777"/>
                </a:solidFill>
              </a:rPr>
              <a:t>4</a:t>
            </a:r>
          </a:p>
        </p:txBody>
      </p:sp>
      <p:sp>
        <p:nvSpPr>
          <p:cNvPr id="3" name="histogram-axis">
            <a:extLst xmlns:a="http://schemas.openxmlformats.org/drawingml/2006/main">
              <a:ext uri="{FF2B5EF4-FFF2-40B4-BE49-F238E27FC236}">
                <a16:creationId xmlns:a16="http://schemas.microsoft.com/office/drawing/2014/main" id="{5D0CA33F-E701-4876-8EBF-AF3F749D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495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19050">
            <a:solidFill>
              <a:srgbClr val="151515"/>
            </a:solidFill>
            <a:prstDash val="solid"/>
          </a:ln>
        </p:spPr>
      </p:sp>
      <p:sp>
        <p:nvSpPr>
          <p:cNvPr id="4" name="hist-bar-0">
            <a:extLst xmlns:a="http://schemas.openxmlformats.org/drawingml/2006/main">
              <a:ext uri="{FF2B5EF4-FFF2-40B4-BE49-F238E27FC236}">
                <a16:creationId xmlns:a16="http://schemas.microsoft.com/office/drawing/2014/main" id="{EA7C02F9-F379-4210-BE27-EF1AA4E1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38625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AD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hist-bar-1">
            <a:extLst xmlns:a="http://schemas.openxmlformats.org/drawingml/2006/main">
              <a:ext uri="{FF2B5EF4-FFF2-40B4-BE49-F238E27FC236}">
                <a16:creationId xmlns:a16="http://schemas.microsoft.com/office/drawing/2014/main" id="{56E9400F-516E-46BC-8F8C-EEFC50D3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619500"/>
            <a:ext cx="3238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AD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hist-bar-2">
            <a:extLst xmlns:a="http://schemas.openxmlformats.org/drawingml/2006/main">
              <a:ext uri="{FF2B5EF4-FFF2-40B4-BE49-F238E27FC236}">
                <a16:creationId xmlns:a16="http://schemas.microsoft.com/office/drawing/2014/main" id="{F5CBC0A2-FD71-48D1-85D6-EBFF0058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476500"/>
            <a:ext cx="3238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AD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hist-bar-3">
            <a:extLst xmlns:a="http://schemas.openxmlformats.org/drawingml/2006/main">
              <a:ext uri="{FF2B5EF4-FFF2-40B4-BE49-F238E27FC236}">
                <a16:creationId xmlns:a16="http://schemas.microsoft.com/office/drawing/2014/main" id="{108CC80A-23D2-4926-89FE-FBFEC848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952625"/>
            <a:ext cx="3238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AD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hist-bar-4">
            <a:extLst xmlns:a="http://schemas.openxmlformats.org/drawingml/2006/main">
              <a:ext uri="{FF2B5EF4-FFF2-40B4-BE49-F238E27FC236}">
                <a16:creationId xmlns:a16="http://schemas.microsoft.com/office/drawing/2014/main" id="{D2643A4B-DD1E-433E-AF95-1FB89856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524125"/>
            <a:ext cx="3238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AD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hist-bar-5">
            <a:extLst xmlns:a="http://schemas.openxmlformats.org/drawingml/2006/main">
              <a:ext uri="{FF2B5EF4-FFF2-40B4-BE49-F238E27FC236}">
                <a16:creationId xmlns:a16="http://schemas.microsoft.com/office/drawing/2014/main" id="{22E6E1E5-5BB4-4D36-AA6F-BCAD468A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429000"/>
            <a:ext cx="323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AD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hist-bar-6">
            <a:extLst xmlns:a="http://schemas.openxmlformats.org/drawingml/2006/main">
              <a:ext uri="{FF2B5EF4-FFF2-40B4-BE49-F238E27FC236}">
                <a16:creationId xmlns:a16="http://schemas.microsoft.com/office/drawing/2014/main" id="{12B35666-3D1D-4FC3-B88C-830754CF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952875"/>
            <a:ext cx="3238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AD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hist-bar-7">
            <a:extLst xmlns:a="http://schemas.openxmlformats.org/drawingml/2006/main">
              <a:ext uri="{FF2B5EF4-FFF2-40B4-BE49-F238E27FC236}">
                <a16:creationId xmlns:a16="http://schemas.microsoft.com/office/drawing/2014/main" id="{879F6902-5D20-4D41-9C41-12F574A5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667125"/>
            <a:ext cx="3238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18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hist-bar-8">
            <a:extLst xmlns:a="http://schemas.openxmlformats.org/drawingml/2006/main">
              <a:ext uri="{FF2B5EF4-FFF2-40B4-BE49-F238E27FC236}">
                <a16:creationId xmlns:a16="http://schemas.microsoft.com/office/drawing/2014/main" id="{CBECBF88-1A8D-427B-8F72-E2B5C0D7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62250"/>
            <a:ext cx="3238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18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hist-bar-9">
            <a:extLst xmlns:a="http://schemas.openxmlformats.org/drawingml/2006/main">
              <a:ext uri="{FF2B5EF4-FFF2-40B4-BE49-F238E27FC236}">
                <a16:creationId xmlns:a16="http://schemas.microsoft.com/office/drawing/2014/main" id="{D231D00E-1249-4EA9-B51F-9D075399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86125"/>
            <a:ext cx="3238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18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76106B9-27F8-4BB0-AA94-537CE2B1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5295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4472C4"/>
                </a:solidFill>
              </a:defRPr>
            </a:pPr>
            <a:r>
              <a:rPr sz="1350" b="0" i="0">
                <a:solidFill>
                  <a:srgbClr val="4472C4"/>
                </a:solidFill>
              </a:rPr>
              <a:t>background / medium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8F98818-4D99-4D78-B0F0-9A3E79A6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529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C55A11"/>
                </a:solidFill>
              </a:defRPr>
            </a:pPr>
            <a:r>
              <a:rPr sz="1350" b="0" i="0">
                <a:solidFill>
                  <a:srgbClr val="C55A11"/>
                </a:solidFill>
              </a:rPr>
              <a:t>cell</a:t>
            </a:r>
          </a:p>
        </p:txBody>
      </p:sp>
      <p:sp>
        <p:nvSpPr>
          <p:cNvPr id="16" name="otsu-line">
            <a:extLst xmlns:a="http://schemas.openxmlformats.org/drawingml/2006/main">
              <a:ext uri="{FF2B5EF4-FFF2-40B4-BE49-F238E27FC236}">
                <a16:creationId xmlns:a16="http://schemas.microsoft.com/office/drawing/2014/main" id="{9B86203B-8B4E-4A89-89F1-ACFA56E9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66875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02BAC82-217E-4EE2-9C41-31874AA2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3286125" y="123825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00000"/>
                </a:solidFill>
              </a:defRPr>
            </a:pPr>
            <a:r>
              <a:rPr sz="1500" b="1" i="0">
                <a:solidFill>
                  <a:srgbClr val="C00000"/>
                </a:solidFill>
              </a:rPr>
              <a:t>Otsu line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A6012C4-7E67-406B-858C-CDCD965C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4472C4"/>
                </a:solidFill>
              </a:defRPr>
            </a:pPr>
            <a:r>
              <a:rPr sz="1725" b="1" i="0">
                <a:solidFill>
                  <a:srgbClr val="4472C4"/>
                </a:solidFill>
              </a:rPr>
              <a:t>take values BELOW this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A622C4F-6807-4BE0-B1C5-37364935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6429375" y="12573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51515"/>
                </a:solidFill>
              </a:defRPr>
            </a:pPr>
            <a:r>
              <a:rPr sz="1950" b="1" i="0">
                <a:solidFill>
                  <a:srgbClr val="151515"/>
                </a:solidFill>
              </a:rPr>
              <a:t>1. sub-Otsu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2689230-520D-48CA-BC3A-6F3274DB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777777"/>
                </a:solidFill>
              </a:defRPr>
            </a:pPr>
            <a:r>
              <a:rPr sz="1500" b="0" i="0">
                <a:solidFill>
                  <a:srgbClr val="777777"/>
                </a:solidFill>
              </a:rPr>
              <a:t>rough background sample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5369E57-8EA7-4607-8697-C5ED555E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716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C00000"/>
                </a:solidFill>
              </a:defRPr>
            </a:pPr>
            <a:r>
              <a:rPr sz="1875" b="1" i="0">
                <a:solidFill>
                  <a:srgbClr val="C00000"/>
                </a:solidFill>
              </a:rPr>
              <a:t>↓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0734CA4-5E1E-452F-A683-D75A76EA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6429375" y="23241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51515"/>
                </a:solidFill>
              </a:defRPr>
            </a:pPr>
            <a:r>
              <a:rPr sz="1950" b="1" i="0">
                <a:solidFill>
                  <a:srgbClr val="151515"/>
                </a:solidFill>
              </a:rPr>
              <a:t>2. median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41CAC51-1026-43E4-9EF7-FA0EE29A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241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777777"/>
                </a:solidFill>
              </a:defRPr>
            </a:pPr>
            <a:r>
              <a:rPr sz="1500" b="0" i="0">
                <a:solidFill>
                  <a:srgbClr val="777777"/>
                </a:solidFill>
              </a:rPr>
              <a:t>typical background BFS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56B26AE-9A20-4798-8CD7-F02A802A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384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C00000"/>
                </a:solidFill>
              </a:defRPr>
            </a:pPr>
            <a:r>
              <a:rPr sz="1875" b="1" i="0">
                <a:solidFill>
                  <a:srgbClr val="C00000"/>
                </a:solidFill>
              </a:rPr>
              <a:t>↓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657E627-B055-4A95-B3E8-490C0BDA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6429375" y="33909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51515"/>
                </a:solidFill>
              </a:defRPr>
            </a:pPr>
            <a:r>
              <a:rPr sz="1950" b="1" i="0">
                <a:solidFill>
                  <a:srgbClr val="151515"/>
                </a:solidFill>
              </a:rPr>
              <a:t>3. MAD × 1.4826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BC0CFD1B-9D29-4B60-944D-FBF4906B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909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777777"/>
                </a:solidFill>
              </a:defRPr>
            </a:pPr>
            <a:r>
              <a:rPr sz="1500" b="0" i="0">
                <a:solidFill>
                  <a:srgbClr val="777777"/>
                </a:solidFill>
              </a:rPr>
              <a:t>background noise width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402D74A2-325F-4478-9BBE-B16216C4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05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C00000"/>
                </a:solidFill>
              </a:defRPr>
            </a:pPr>
            <a:r>
              <a:rPr sz="1875" b="1" i="0">
                <a:solidFill>
                  <a:srgbClr val="C00000"/>
                </a:solidFill>
              </a:rPr>
              <a:t>↓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68BB7F75-CFEF-4DEE-9AC6-D0AB3231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6429375" y="4457700"/>
            <a:ext cx="447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51515"/>
                </a:solidFill>
              </a:defRPr>
            </a:pPr>
            <a:r>
              <a:rPr sz="1950" b="1" i="0">
                <a:solidFill>
                  <a:srgbClr val="151515"/>
                </a:solidFill>
              </a:rPr>
              <a:t>4. median + k·MAD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353464FB-D6F7-4887-B0C1-D7D5C646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577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777777"/>
                </a:solidFill>
              </a:defRPr>
            </a:pPr>
            <a:r>
              <a:rPr sz="1500" b="0" i="0">
                <a:solidFill>
                  <a:srgbClr val="777777"/>
                </a:solidFill>
              </a:rPr>
              <a:t>final cutoff (k = 2)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6130E336-CA69-4901-A03C-607379C6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388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1">
                <a:solidFill>
                  <a:srgbClr val="70AD47"/>
                </a:solidFill>
              </a:defRPr>
            </a:pPr>
            <a:r>
              <a:rPr sz="1725" b="0" i="1">
                <a:solidFill>
                  <a:srgbClr val="70AD47"/>
                </a:solidFill>
              </a:rPr>
              <a:t>qualifies = inside the normal wobble of real background</a:t>
            </a:r>
          </a:p>
        </p:txBody>
      </p:sp>
    </p:spTree>
    <p:extLst>
      <p:ext uri="{BB962C8B-B14F-4D97-AF65-F5344CB8AC3E}">
        <p14:creationId xmlns:p14="http://schemas.microsoft.com/office/powerpoint/2010/main" val="16507705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6D81AE-83A5-4326-86F8-53305D1D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51515"/>
                </a:solidFill>
              </a:defRPr>
            </a:pPr>
            <a:r>
              <a:rPr sz="2850" b="1" i="0">
                <a:solidFill>
                  <a:srgbClr val="151515"/>
                </a:solidFill>
              </a:rPr>
              <a:t>All qualifying background pixels become ONE endmember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5B5CADE-D90A-4655-B61A-B05209F7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2388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777777"/>
                </a:solidFill>
              </a:defRPr>
            </a:pPr>
            <a:r>
              <a:rPr sz="1200" b="0" i="0">
                <a:solidFill>
                  <a:srgbClr val="777777"/>
                </a:solidFill>
              </a:rPr>
              <a:t>5</a:t>
            </a:r>
          </a:p>
        </p:txBody>
      </p:sp>
      <p:sp>
        <p:nvSpPr>
          <p:cNvPr id="3" name="background-pixel">
            <a:extLst xmlns:a="http://schemas.openxmlformats.org/drawingml/2006/main">
              <a:ext uri="{FF2B5EF4-FFF2-40B4-BE49-F238E27FC236}">
                <a16:creationId xmlns:a16="http://schemas.microsoft.com/office/drawing/2014/main" id="{46E60344-E3FA-4B13-B75A-B65E02BC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19050">
            <a:solidFill>
              <a:srgbClr val="4472C4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CA8FAA5-3C54-47DE-83D9-1E32024D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51515"/>
                </a:solidFill>
              </a:defRPr>
            </a:pPr>
            <a:r>
              <a:rPr sz="1425" b="0" i="0">
                <a:solidFill>
                  <a:srgbClr val="151515"/>
                </a:solidFill>
              </a:rPr>
              <a:t>bg 1</a:t>
            </a:r>
          </a:p>
        </p:txBody>
      </p:sp>
      <p:sp>
        <p:nvSpPr>
          <p:cNvPr id="5" name="background-pixel">
            <a:extLst xmlns:a="http://schemas.openxmlformats.org/drawingml/2006/main">
              <a:ext uri="{FF2B5EF4-FFF2-40B4-BE49-F238E27FC236}">
                <a16:creationId xmlns:a16="http://schemas.microsoft.com/office/drawing/2014/main" id="{D5304169-5041-41A5-9609-84EE0E81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3811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19050">
            <a:solidFill>
              <a:srgbClr val="4472C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4A903BF-D0DE-40C6-BFCC-69C6F2D3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714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51515"/>
                </a:solidFill>
              </a:defRPr>
            </a:pPr>
            <a:r>
              <a:rPr sz="1425" b="0" i="0">
                <a:solidFill>
                  <a:srgbClr val="151515"/>
                </a:solidFill>
              </a:rPr>
              <a:t>bg 2</a:t>
            </a:r>
          </a:p>
        </p:txBody>
      </p:sp>
      <p:sp>
        <p:nvSpPr>
          <p:cNvPr id="7" name="background-pixel">
            <a:extLst xmlns:a="http://schemas.openxmlformats.org/drawingml/2006/main">
              <a:ext uri="{FF2B5EF4-FFF2-40B4-BE49-F238E27FC236}">
                <a16:creationId xmlns:a16="http://schemas.microsoft.com/office/drawing/2014/main" id="{B744D6FD-7501-4A69-8E2E-CE20E96E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811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19050">
            <a:solidFill>
              <a:srgbClr val="4472C4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632FB2D-D623-45C5-AF7D-0DF9466C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14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51515"/>
                </a:solidFill>
              </a:defRPr>
            </a:pPr>
            <a:r>
              <a:rPr sz="1425" b="0" i="0">
                <a:solidFill>
                  <a:srgbClr val="151515"/>
                </a:solidFill>
              </a:rPr>
              <a:t>bg 3</a:t>
            </a:r>
          </a:p>
        </p:txBody>
      </p:sp>
      <p:sp>
        <p:nvSpPr>
          <p:cNvPr id="9" name="background-pixel">
            <a:extLst xmlns:a="http://schemas.openxmlformats.org/drawingml/2006/main">
              <a:ext uri="{FF2B5EF4-FFF2-40B4-BE49-F238E27FC236}">
                <a16:creationId xmlns:a16="http://schemas.microsoft.com/office/drawing/2014/main" id="{77DD8CCF-DC58-47F5-BF80-1FFEF9A8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3811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19050">
            <a:solidFill>
              <a:srgbClr val="4472C4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AD6DB8F-22D4-42C2-899F-86FB7F9A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14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51515"/>
                </a:solidFill>
              </a:defRPr>
            </a:pPr>
            <a:r>
              <a:rPr sz="1425" b="0" i="0">
                <a:solidFill>
                  <a:srgbClr val="151515"/>
                </a:solidFill>
              </a:rPr>
              <a:t>bg 4</a:t>
            </a:r>
          </a:p>
        </p:txBody>
      </p:sp>
      <p:sp>
        <p:nvSpPr>
          <p:cNvPr id="11" name="background-pixel">
            <a:extLst xmlns:a="http://schemas.openxmlformats.org/drawingml/2006/main">
              <a:ext uri="{FF2B5EF4-FFF2-40B4-BE49-F238E27FC236}">
                <a16:creationId xmlns:a16="http://schemas.microsoft.com/office/drawing/2014/main" id="{BEFA9A5A-1105-4980-BF9F-3462CE32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19050">
            <a:solidFill>
              <a:srgbClr val="4472C4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207E7FF-5454-44A9-9309-CB1C1193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956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51515"/>
                </a:solidFill>
              </a:defRPr>
            </a:pPr>
            <a:r>
              <a:rPr sz="1425" b="0" i="0">
                <a:solidFill>
                  <a:srgbClr val="151515"/>
                </a:solidFill>
              </a:rPr>
              <a:t>bg 5</a:t>
            </a:r>
          </a:p>
        </p:txBody>
      </p:sp>
      <p:sp>
        <p:nvSpPr>
          <p:cNvPr id="13" name="background-pixel">
            <a:extLst xmlns:a="http://schemas.openxmlformats.org/drawingml/2006/main">
              <a:ext uri="{FF2B5EF4-FFF2-40B4-BE49-F238E27FC236}">
                <a16:creationId xmlns:a16="http://schemas.microsoft.com/office/drawing/2014/main" id="{BAEE6130-6633-4D70-8C59-8EDC9550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62250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19050">
            <a:solidFill>
              <a:srgbClr val="4472C4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DE5CCFB-EB8C-414B-9989-E8D1E829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956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51515"/>
                </a:solidFill>
              </a:defRPr>
            </a:pPr>
            <a:r>
              <a:rPr sz="1425" b="0" i="0">
                <a:solidFill>
                  <a:srgbClr val="151515"/>
                </a:solidFill>
              </a:rPr>
              <a:t>bg 6</a:t>
            </a:r>
          </a:p>
        </p:txBody>
      </p:sp>
      <p:sp>
        <p:nvSpPr>
          <p:cNvPr id="15" name="background-pixel">
            <a:extLst xmlns:a="http://schemas.openxmlformats.org/drawingml/2006/main">
              <a:ext uri="{FF2B5EF4-FFF2-40B4-BE49-F238E27FC236}">
                <a16:creationId xmlns:a16="http://schemas.microsoft.com/office/drawing/2014/main" id="{12A0956B-AED3-43A7-9441-CD72DC54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62250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19050">
            <a:solidFill>
              <a:srgbClr val="4472C4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3483568-B14D-4E42-905C-06C2B8C2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0956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51515"/>
                </a:solidFill>
              </a:defRPr>
            </a:pPr>
            <a:r>
              <a:rPr sz="1425" b="0" i="0">
                <a:solidFill>
                  <a:srgbClr val="151515"/>
                </a:solidFill>
              </a:rPr>
              <a:t>bg 7</a:t>
            </a:r>
          </a:p>
        </p:txBody>
      </p:sp>
      <p:sp>
        <p:nvSpPr>
          <p:cNvPr id="17" name="background-pixel">
            <a:extLst xmlns:a="http://schemas.openxmlformats.org/drawingml/2006/main">
              <a:ext uri="{FF2B5EF4-FFF2-40B4-BE49-F238E27FC236}">
                <a16:creationId xmlns:a16="http://schemas.microsoft.com/office/drawing/2014/main" id="{91295338-20DD-4A45-94D7-42E35ED5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62250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19050">
            <a:solidFill>
              <a:srgbClr val="4472C4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E06E38D-E6EC-42CC-8DC7-B6F10A40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956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51515"/>
                </a:solidFill>
              </a:defRPr>
            </a:pPr>
            <a:r>
              <a:rPr sz="1425" b="0" i="0">
                <a:solidFill>
                  <a:srgbClr val="151515"/>
                </a:solidFill>
              </a:rPr>
              <a:t>bg 8</a:t>
            </a:r>
          </a:p>
        </p:txBody>
      </p:sp>
      <p:sp>
        <p:nvSpPr>
          <p:cNvPr id="19" name="arrow-line">
            <a:extLst xmlns:a="http://schemas.openxmlformats.org/drawingml/2006/main">
              <a:ext uri="{FF2B5EF4-FFF2-40B4-BE49-F238E27FC236}">
                <a16:creationId xmlns:a16="http://schemas.microsoft.com/office/drawing/2014/main" id="{8C993AC1-CA08-403A-ABE6-4F2CD3E8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95550"/>
            <a:ext cx="1190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19050">
            <a:solidFill>
              <a:srgbClr val="70AD47"/>
            </a:solidFill>
            <a:prstDash val="solid"/>
          </a:ln>
        </p:spPr>
      </p:sp>
      <p:sp>
        <p:nvSpPr>
          <p:cNvPr id="20" name="arrow-head">
            <a:extLst xmlns:a="http://schemas.openxmlformats.org/drawingml/2006/main">
              <a:ext uri="{FF2B5EF4-FFF2-40B4-BE49-F238E27FC236}">
                <a16:creationId xmlns:a16="http://schemas.microsoft.com/office/drawing/2014/main" id="{05EE6CA2-D625-4569-8120-61C8A218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90775"/>
            <a:ext cx="2857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9525">
            <a:solidFill>
              <a:srgbClr val="70AD47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BF21A32-B0E3-4AE5-96BE-6C820D82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6215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70AD47"/>
                </a:solidFill>
              </a:defRPr>
            </a:pPr>
            <a:r>
              <a:rPr sz="1800" b="1" i="0">
                <a:solidFill>
                  <a:srgbClr val="70AD47"/>
                </a:solidFill>
              </a:rPr>
              <a:t>SUM</a:t>
            </a:r>
          </a:p>
        </p:txBody>
      </p:sp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7905750" y="1238250"/>
          <a:ext xmlns:a="http://schemas.openxmlformats.org/drawingml/2006/main" cx="352425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0664aa85bc4616"/>
          </a:graphicData>
        </a:graphic>
      </p:graphicFrame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D9BD10A-CD41-4EA7-9ED8-2332E8DE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7858125" y="4476750"/>
            <a:ext cx="3571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70AD47"/>
                </a:solidFill>
              </a:defRPr>
            </a:pPr>
            <a:r>
              <a:rPr sz="1875" b="1" i="0">
                <a:solidFill>
                  <a:srgbClr val="70AD47"/>
                </a:solidFill>
              </a:rPr>
              <a:t>“pure” background endmember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5445E1F-1FDF-406D-904C-59D40C17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1952625" y="5429250"/>
            <a:ext cx="8191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51515"/>
                </a:solidFill>
              </a:defRPr>
            </a:pPr>
            <a:r>
              <a:rPr sz="2175" b="1" i="0">
                <a:solidFill>
                  <a:srgbClr val="151515"/>
                </a:solidFill>
              </a:rPr>
              <a:t>same background chemistry, effectively more exposure time</a:t>
            </a:r>
          </a:p>
        </p:txBody>
      </p:sp>
    </p:spTree>
    <p:extLst>
      <p:ext uri="{BB962C8B-B14F-4D97-AF65-F5344CB8AC3E}">
        <p14:creationId xmlns:p14="http://schemas.microsoft.com/office/powerpoint/2010/main" val="4378368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2C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ED12CE-1674-47B6-B149-D775E82E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51515"/>
                </a:solidFill>
              </a:defRPr>
            </a:pPr>
            <a:r>
              <a:rPr sz="2850" b="1" i="0">
                <a:solidFill>
                  <a:srgbClr val="151515"/>
                </a:solidFill>
              </a:rPr>
              <a:t>Quick test: does the constructed background behave better?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D0A9138-63FE-402A-837E-9A91F68D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2388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777777"/>
                </a:solidFill>
              </a:defRPr>
            </a:pPr>
            <a:r>
              <a:rPr sz="1200" b="0" i="0">
                <a:solidFill>
                  <a:srgbClr val="777777"/>
                </a:solidFill>
              </a:rPr>
              <a:t>6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3FD85A5-CE35-4BA0-9C19-C4FBD634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43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C00000"/>
                </a:solidFill>
              </a:defRPr>
            </a:pPr>
            <a:r>
              <a:rPr sz="2625" b="1" i="0">
                <a:solidFill>
                  <a:srgbClr val="C00000"/>
                </a:solidFill>
              </a:rPr>
              <a:t>A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D4DF114-3F94-469D-AFDF-2237E171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1620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51515"/>
                </a:solidFill>
              </a:defRPr>
            </a:pPr>
            <a:r>
              <a:rPr sz="1875" b="1" i="0">
                <a:solidFill>
                  <a:srgbClr val="151515"/>
                </a:solidFill>
              </a:rPr>
              <a:t>3 random dataset endmembers</a:t>
            </a:r>
          </a:p>
        </p:txBody>
      </p:sp>
      <p:sp>
        <p:nvSpPr>
          <p:cNvPr id="5" name="image-placeholder-a">
            <a:extLst xmlns:a="http://schemas.openxmlformats.org/drawingml/2006/main">
              <a:ext uri="{FF2B5EF4-FFF2-40B4-BE49-F238E27FC236}">
                <a16:creationId xmlns:a16="http://schemas.microsoft.com/office/drawing/2014/main" id="{20739B4D-480D-48B7-B537-1790E37A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22CDEA7-9ACE-42B8-89F6-77A64C11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14625"/>
            <a:ext cx="361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777777"/>
                </a:solidFill>
              </a:defRPr>
            </a:pPr>
            <a:r>
              <a:rPr sz="2025" b="1" i="0">
                <a:solidFill>
                  <a:srgbClr val="777777"/>
                </a:solidFill>
              </a:rPr>
              <a:t>INSERT RESULT IMAGE</a:t>
            </a:r>
          </a:p>
          <a:p xmlns:a="http://schemas.openxmlformats.org/drawingml/2006/main">
            <a:pPr algn="ctr">
              <a:defRPr sz="2025" b="1" i="0">
                <a:solidFill>
                  <a:srgbClr val="777777"/>
                </a:solidFill>
              </a:defRPr>
            </a:pPr>
            <a:r>
              <a:rPr sz="2025" b="1" i="0">
                <a:solidFill>
                  <a:srgbClr val="777777"/>
                </a:solidFill>
              </a:rPr>
              <a:t>(random + random + random)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A3C1FF8-C29B-423A-9A49-D9897A9F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143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70AD47"/>
                </a:solidFill>
              </a:defRPr>
            </a:pPr>
            <a:r>
              <a:rPr sz="2625" b="1" i="0">
                <a:solidFill>
                  <a:srgbClr val="70AD47"/>
                </a:solidFill>
              </a:rPr>
              <a:t>B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B027D1C-FB11-4CED-87CC-7904F5E9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1620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51515"/>
                </a:solidFill>
              </a:defRPr>
            </a:pPr>
            <a:r>
              <a:rPr sz="1875" b="1" i="0">
                <a:solidFill>
                  <a:srgbClr val="151515"/>
                </a:solidFill>
              </a:rPr>
              <a:t>2 random + constructed background</a:t>
            </a:r>
          </a:p>
        </p:txBody>
      </p:sp>
      <p:sp>
        <p:nvSpPr>
          <p:cNvPr id="9" name="image-placeholder-b">
            <a:extLst xmlns:a="http://schemas.openxmlformats.org/drawingml/2006/main">
              <a:ext uri="{FF2B5EF4-FFF2-40B4-BE49-F238E27FC236}">
                <a16:creationId xmlns:a16="http://schemas.microsoft.com/office/drawing/2014/main" id="{CBF09AAA-B6B6-43C9-BDEC-A30560E9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AD47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31E7639-2E5F-43AD-B7AD-75A54568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1462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70AD47"/>
                </a:solidFill>
              </a:defRPr>
            </a:pPr>
            <a:r>
              <a:rPr sz="2025" b="1" i="0">
                <a:solidFill>
                  <a:srgbClr val="70AD47"/>
                </a:solidFill>
              </a:rPr>
              <a:t>INSERT RESULT IMAGE</a:t>
            </a:r>
          </a:p>
          <a:p xmlns:a="http://schemas.openxmlformats.org/drawingml/2006/main">
            <a:pPr algn="ctr">
              <a:defRPr sz="2025" b="1" i="0">
                <a:solidFill>
                  <a:srgbClr val="70AD47"/>
                </a:solidFill>
              </a:defRPr>
            </a:pPr>
            <a:r>
              <a:rPr sz="2025" b="1" i="0">
                <a:solidFill>
                  <a:srgbClr val="70AD47"/>
                </a:solidFill>
              </a:rPr>
              <a:t>(random + random + summed BG)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4A97DCE-45AF-4F5C-B072-E336D0EE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1200150" y="5334000"/>
            <a:ext cx="9715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51515"/>
                </a:solidFill>
              </a:defRPr>
            </a:pPr>
            <a:r>
              <a:rPr sz="1950" b="1" i="0">
                <a:solidFill>
                  <a:srgbClr val="151515"/>
                </a:solidFill>
              </a:rPr>
              <a:t>Observed: the constructed endmember has much higher average potency in background pixels.</a:t>
            </a:r>
          </a:p>
        </p:txBody>
      </p:sp>
    </p:spTree>
    <p:extLst>
      <p:ext uri="{BB962C8B-B14F-4D97-AF65-F5344CB8AC3E}">
        <p14:creationId xmlns:p14="http://schemas.microsoft.com/office/powerpoint/2010/main" val="793653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86BAE8-2F56-4B7E-834D-213856DE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51515"/>
                </a:solidFill>
              </a:defRPr>
            </a:pPr>
            <a:r>
              <a:rPr sz="2850" b="1" i="0">
                <a:solidFill>
                  <a:srgbClr val="151515"/>
                </a:solidFill>
              </a:rPr>
              <a:t>So far: background looks like a real, reusable component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8105AD7-3511-4EB6-9414-697F440E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2388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777777"/>
                </a:solidFill>
              </a:defRPr>
            </a:pPr>
            <a:r>
              <a:rPr sz="1200" b="0" i="0">
                <a:solidFill>
                  <a:srgbClr val="777777"/>
                </a:solidFill>
              </a:rPr>
              <a:t>7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B702ED9-4011-4FC0-B8D6-B90FC447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70AD47"/>
                </a:solidFill>
              </a:defRPr>
            </a:pPr>
            <a:r>
              <a:rPr sz="3750" b="1" i="0">
                <a:solidFill>
                  <a:srgbClr val="70AD47"/>
                </a:solidFill>
              </a:rPr>
              <a:t>✓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9C7C19B-2DBA-4CB4-91B5-6790FBE8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809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51515"/>
                </a:solidFill>
              </a:defRPr>
            </a:pPr>
            <a:r>
              <a:rPr sz="2175" b="1" i="0">
                <a:solidFill>
                  <a:srgbClr val="151515"/>
                </a:solidFill>
              </a:rPr>
              <a:t>background selected by a robust BFS cutoff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19E8A10-C6B8-479F-84EE-3D4567DD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70AD47"/>
                </a:solidFill>
              </a:defRPr>
            </a:pPr>
            <a:r>
              <a:rPr sz="3750" b="1" i="0">
                <a:solidFill>
                  <a:srgbClr val="70AD47"/>
                </a:solidFill>
              </a:rPr>
              <a:t>✓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D93DF3D-8D4F-4C3E-8FCF-3515B5D9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00375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51515"/>
                </a:solidFill>
              </a:defRPr>
            </a:pPr>
            <a:r>
              <a:rPr sz="2175" b="1" i="0">
                <a:solidFill>
                  <a:srgbClr val="151515"/>
                </a:solidFill>
              </a:rPr>
              <a:t>many background spectra combined to reduce noise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4F1D8D0-1956-46FC-8A23-0760F1F9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70AD47"/>
                </a:solidFill>
              </a:defRPr>
            </a:pPr>
            <a:r>
              <a:rPr sz="3750" b="1" i="0">
                <a:solidFill>
                  <a:srgbClr val="70AD47"/>
                </a:solidFill>
              </a:rPr>
              <a:t>✓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E598B1E-5637-46D7-AA3C-6FDD14C5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19100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51515"/>
                </a:solidFill>
              </a:defRPr>
            </a:pPr>
            <a:r>
              <a:rPr sz="2175" b="1" i="0">
                <a:solidFill>
                  <a:srgbClr val="151515"/>
                </a:solidFill>
              </a:rPr>
              <a:t>higher background potency than random-only VCA test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E363A8B-D513-4BBF-9D7A-BCC70B8D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7667625" y="552450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1">
                <a:solidFill>
                  <a:srgbClr val="C00000"/>
                </a:solidFill>
              </a:defRPr>
            </a:pPr>
            <a:r>
              <a:rPr sz="1875" b="0" i="1">
                <a:solidFill>
                  <a:srgbClr val="C00000"/>
                </a:solidFill>
              </a:rPr>
              <a:t>still exploratory / not finished</a:t>
            </a:r>
          </a:p>
        </p:txBody>
      </p:sp>
    </p:spTree>
    <p:extLst>
      <p:ext uri="{BB962C8B-B14F-4D97-AF65-F5344CB8AC3E}">
        <p14:creationId xmlns:p14="http://schemas.microsoft.com/office/powerpoint/2010/main" val="17018895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DDE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E20E60-09AE-49EE-9014-78E5F65F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51515"/>
                </a:solidFill>
              </a:defRPr>
            </a:pPr>
            <a:r>
              <a:rPr sz="2850" b="1" i="0">
                <a:solidFill>
                  <a:srgbClr val="151515"/>
                </a:solidFill>
              </a:rPr>
              <a:t>Next: subtract the background spectrum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FB55E69-29DB-40CD-8F28-316630ED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2388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777777"/>
                </a:solidFill>
              </a:defRPr>
            </a:pPr>
            <a:r>
              <a:rPr sz="1200" b="0" i="0">
                <a:solidFill>
                  <a:srgbClr val="777777"/>
                </a:solidFill>
              </a:rPr>
              <a:t>8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7DC3188-9017-4B0C-A17E-7D3FBA13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51515"/>
                </a:solidFill>
              </a:defRPr>
            </a:pPr>
            <a:r>
              <a:rPr sz="2025" b="1" i="0">
                <a:solidFill>
                  <a:srgbClr val="151515"/>
                </a:solidFill>
              </a:rPr>
              <a:t>measured pixel spectrum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9ED3F4E-E761-44B1-8D79-A25E964E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336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C00000"/>
                </a:solidFill>
              </a:defRPr>
            </a:pPr>
            <a:r>
              <a:rPr sz="3300" b="1" i="0">
                <a:solidFill>
                  <a:srgbClr val="C00000"/>
                </a:solidFill>
              </a:rPr>
              <a:t>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7A47F58-251C-4522-9D70-A3671BEB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5240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51515"/>
                </a:solidFill>
              </a:defRPr>
            </a:pPr>
            <a:r>
              <a:rPr sz="2025" b="1" i="0">
                <a:solidFill>
                  <a:srgbClr val="151515"/>
                </a:solidFill>
              </a:rPr>
              <a:t>background endmember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86B7117-DD88-40BF-B94A-FFDA94B3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336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4472C4"/>
                </a:solidFill>
              </a:defRPr>
            </a:pPr>
            <a:r>
              <a:rPr sz="3300" b="1" i="0">
                <a:solidFill>
                  <a:srgbClr val="4472C4"/>
                </a:solidFill>
              </a:rPr>
              <a:t>=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23875" y="2143125"/>
          <a:ext xmlns:a="http://schemas.openxmlformats.org/drawingml/2006/main" cx="3429000" cy="2476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7ddb3d02fd483f"/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5095875" y="2143125"/>
          <a:ext xmlns:a="http://schemas.openxmlformats.org/drawingml/2006/main" cx="3429000" cy="2476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f8a7a567444c0f"/>
          </a:graphicData>
        </a:graphic>
      </p:graphicFrame>
      <p:sp>
        <p:nvSpPr>
          <p:cNvPr id="9" name="future-result">
            <a:extLst xmlns:a="http://schemas.openxmlformats.org/drawingml/2006/main">
              <a:ext uri="{FF2B5EF4-FFF2-40B4-BE49-F238E27FC236}">
                <a16:creationId xmlns:a16="http://schemas.microsoft.com/office/drawing/2014/main" id="{26C8B0BC-3E0D-4558-9AF6-F8D82E9F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95500"/>
            <a:ext cx="1571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72C4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833D687-7C2E-4604-A51F-99DD90A5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57500"/>
            <a:ext cx="133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4472C4"/>
                </a:solidFill>
              </a:defRPr>
            </a:pPr>
            <a:r>
              <a:rPr sz="1875" b="1" i="0">
                <a:solidFill>
                  <a:srgbClr val="4472C4"/>
                </a:solidFill>
              </a:rPr>
              <a:t>CELL-ONLY</a:t>
            </a:r>
          </a:p>
          <a:p xmlns:a="http://schemas.openxmlformats.org/drawingml/2006/main">
            <a:pPr algn="ctr">
              <a:defRPr sz="1875" b="1" i="0">
                <a:solidFill>
                  <a:srgbClr val="4472C4"/>
                </a:solidFill>
              </a:defRPr>
            </a:pPr>
            <a:r>
              <a:rPr sz="1875" b="1" i="0">
                <a:solidFill>
                  <a:srgbClr val="4472C4"/>
                </a:solidFill>
              </a:rPr>
              <a:t>SPECTRUM</a:t>
            </a:r>
          </a:p>
          <a:p xmlns:a="http://schemas.openxmlformats.org/drawingml/2006/main">
            <a:pPr algn="ctr">
              <a:defRPr sz="1875" b="1" i="0">
                <a:solidFill>
                  <a:srgbClr val="4472C4"/>
                </a:solidFill>
              </a:defRPr>
            </a:pPr>
            <a:r>
              <a:rPr sz="1875" b="1" i="0">
                <a:solidFill>
                  <a:srgbClr val="4472C4"/>
                </a:solidFill>
              </a:rPr>
              <a:t>(?)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5ECB05D-30BE-4E72-9472-F3C2ACD1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81625"/>
            <a:ext cx="971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51515"/>
                </a:solidFill>
              </a:defRPr>
            </a:pPr>
            <a:r>
              <a:rPr sz="1950" b="1" i="0">
                <a:solidFill>
                  <a:srgbClr val="151515"/>
                </a:solidFill>
              </a:rPr>
              <a:t>Goal: remove the medium/background contribution before finding the other two endmembers.</a:t>
            </a:r>
          </a:p>
        </p:txBody>
      </p:sp>
    </p:spTree>
    <p:extLst>
      <p:ext uri="{BB962C8B-B14F-4D97-AF65-F5344CB8AC3E}">
        <p14:creationId xmlns:p14="http://schemas.microsoft.com/office/powerpoint/2010/main" val="17805232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1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1D7700-9443-42AA-8737-8C4C85C3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51515"/>
                </a:solidFill>
              </a:defRPr>
            </a:pPr>
            <a:r>
              <a:rPr sz="2850" b="1" i="0">
                <a:solidFill>
                  <a:srgbClr val="151515"/>
                </a:solidFill>
              </a:rPr>
              <a:t>Then isolate nucleus + cytoplasm, and rebuild the whole cell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454729A-48A2-4D96-95EA-1F39B302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2388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777777"/>
                </a:solidFill>
              </a:defRPr>
            </a:pPr>
            <a:r>
              <a:rPr sz="1200" b="0" i="0">
                <a:solidFill>
                  <a:srgbClr val="777777"/>
                </a:solidFill>
              </a:rPr>
              <a:t>9</a:t>
            </a:r>
          </a:p>
        </p:txBody>
      </p:sp>
      <p:sp>
        <p:nvSpPr>
          <p:cNvPr id="3" name="future-0">
            <a:extLst xmlns:a="http://schemas.openxmlformats.org/drawingml/2006/main">
              <a:ext uri="{FF2B5EF4-FFF2-40B4-BE49-F238E27FC236}">
                <a16:creationId xmlns:a16="http://schemas.microsoft.com/office/drawing/2014/main" id="{12DC5DBC-212F-4E8C-A827-A12BA6C0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EADBA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54324A4-FD5D-4976-8707-F368A2C9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145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9EADBA"/>
                </a:solidFill>
              </a:defRPr>
            </a:pPr>
            <a:r>
              <a:rPr sz="1875" b="1" i="0">
                <a:solidFill>
                  <a:srgbClr val="9EADBA"/>
                </a:solidFill>
              </a:rPr>
              <a:t>BACKGROUND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60C1B3C-B6ED-477F-AC4B-42085AC8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93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 i="1">
                <a:solidFill>
                  <a:srgbClr val="777777"/>
                </a:solidFill>
              </a:defRPr>
            </a:pPr>
            <a:r>
              <a:rPr sz="1725" b="0" i="1">
                <a:solidFill>
                  <a:srgbClr val="777777"/>
                </a:solidFill>
              </a:rPr>
              <a:t>spectrum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5CD013B-9F50-459C-8BA2-AAC03E5F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336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C00000"/>
                </a:solidFill>
              </a:defRPr>
            </a:pPr>
            <a:r>
              <a:rPr sz="3000" b="1" i="0">
                <a:solidFill>
                  <a:srgbClr val="C00000"/>
                </a:solidFill>
              </a:rPr>
              <a:t>+</a:t>
            </a:r>
          </a:p>
        </p:txBody>
      </p:sp>
      <p:sp>
        <p:nvSpPr>
          <p:cNvPr id="7" name="future-1">
            <a:extLst xmlns:a="http://schemas.openxmlformats.org/drawingml/2006/main">
              <a:ext uri="{FF2B5EF4-FFF2-40B4-BE49-F238E27FC236}">
                <a16:creationId xmlns:a16="http://schemas.microsoft.com/office/drawing/2014/main" id="{F14DCB1B-27DA-4603-B413-98DD55F5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81125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AD47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79AEEC1-29FF-4E5F-B376-26951A7C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145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70AD47"/>
                </a:solidFill>
              </a:defRPr>
            </a:pPr>
            <a:r>
              <a:rPr sz="1875" b="1" i="0">
                <a:solidFill>
                  <a:srgbClr val="70AD47"/>
                </a:solidFill>
              </a:rPr>
              <a:t>CYTOPLASM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DE304D9-8957-412D-8F31-CEB5DAD8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6193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 i="1">
                <a:solidFill>
                  <a:srgbClr val="777777"/>
                </a:solidFill>
              </a:defRPr>
            </a:pPr>
            <a:r>
              <a:rPr sz="1725" b="0" i="1">
                <a:solidFill>
                  <a:srgbClr val="777777"/>
                </a:solidFill>
              </a:rPr>
              <a:t>spectrum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6435B59-FC47-46E8-9BF9-5F4C0EA8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336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C00000"/>
                </a:solidFill>
              </a:defRPr>
            </a:pPr>
            <a:r>
              <a:rPr sz="3000" b="1" i="0">
                <a:solidFill>
                  <a:srgbClr val="C00000"/>
                </a:solidFill>
              </a:rPr>
              <a:t>+</a:t>
            </a:r>
          </a:p>
        </p:txBody>
      </p:sp>
      <p:sp>
        <p:nvSpPr>
          <p:cNvPr id="11" name="future-2">
            <a:extLst xmlns:a="http://schemas.openxmlformats.org/drawingml/2006/main">
              <a:ext uri="{FF2B5EF4-FFF2-40B4-BE49-F238E27FC236}">
                <a16:creationId xmlns:a16="http://schemas.microsoft.com/office/drawing/2014/main" id="{FF9E974F-D30E-4B84-B524-879A5AB8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381125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55A11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D3693EF-7926-4EA8-98D9-5A55A6A4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145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C55A11"/>
                </a:solidFill>
              </a:defRPr>
            </a:pPr>
            <a:r>
              <a:rPr sz="1875" b="1" i="0">
                <a:solidFill>
                  <a:srgbClr val="C55A11"/>
                </a:solidFill>
              </a:rPr>
              <a:t>NUCLEUS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B2D7637-D7AF-4E13-BA14-A6BD1BFA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193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 i="1">
                <a:solidFill>
                  <a:srgbClr val="777777"/>
                </a:solidFill>
              </a:defRPr>
            </a:pPr>
            <a:r>
              <a:rPr sz="1725" b="0" i="1">
                <a:solidFill>
                  <a:srgbClr val="777777"/>
                </a:solidFill>
              </a:rPr>
              <a:t>spectrum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C1FA678-9CE0-444B-8959-9D8FD872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2476500" y="4524375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151515"/>
                </a:solidFill>
              </a:defRPr>
            </a:pPr>
            <a:r>
              <a:rPr sz="2850" b="1" i="0">
                <a:solidFill>
                  <a:srgbClr val="151515"/>
                </a:solidFill>
              </a:rPr>
              <a:t>entire cell = sum of 3 spectra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7C615B7-5473-41F7-AE17-8456C8BC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572125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 i="1">
                <a:solidFill>
                  <a:srgbClr val="777777"/>
                </a:solidFill>
              </a:defRPr>
            </a:pPr>
            <a:r>
              <a:rPr sz="1575" b="0" i="1">
                <a:solidFill>
                  <a:srgbClr val="777777"/>
                </a:solidFill>
              </a:rPr>
              <a:t>unfinished questions: separation rule? validation? potency stability across scans?</a:t>
            </a:r>
          </a:p>
        </p:txBody>
      </p:sp>
    </p:spTree>
    <p:extLst>
      <p:ext uri="{BB962C8B-B14F-4D97-AF65-F5344CB8AC3E}">
        <p14:creationId xmlns:p14="http://schemas.microsoft.com/office/powerpoint/2010/main" val="6678940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2026-09-01T03:46:54.7980000Z</dcterms:created>
  <dcterms:modified xsi:type="dcterms:W3CDTF">2026-09-01T03:46:54.7980000Z</dcterms:modified>
</coreProperties>
</file>