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9d21a6e9944ff2" /><Relationship Type="http://schemas.openxmlformats.org/officeDocument/2006/relationships/extended-properties" Target="/docProps/app.xml" Id="Rac9550d2e5804a1f" /><Relationship Type="http://schemas.openxmlformats.org/officeDocument/2006/relationships/officeDocument" Target="/ppt/presentation.xml" Id="Rd094268a735942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9dc242865b42e7"/>
  </p:sldMasterIdLst>
  <p:notesMasterIdLst>
    <p:notesMasterId xmlns:r="http://schemas.openxmlformats.org/officeDocument/2006/relationships" r:id="R3e35fa6bacae42f7"/>
  </p:notesMasterIdLst>
  <p:sldIdLst>
    <p:sldId xmlns:r="http://schemas.openxmlformats.org/officeDocument/2006/relationships" id="256" r:id="R7210501857f94c5b"/>
    <p:sldId xmlns:r="http://schemas.openxmlformats.org/officeDocument/2006/relationships" id="257" r:id="Rc0d49b2bbdaa4281"/>
    <p:sldId xmlns:r="http://schemas.openxmlformats.org/officeDocument/2006/relationships" id="258" r:id="R73e6154f3fd64cf7"/>
    <p:sldId xmlns:r="http://schemas.openxmlformats.org/officeDocument/2006/relationships" id="259" r:id="R978cd1d9b57d4ce8"/>
    <p:sldId xmlns:r="http://schemas.openxmlformats.org/officeDocument/2006/relationships" id="260" r:id="R823c38e6d5a54c94"/>
    <p:sldId xmlns:r="http://schemas.openxmlformats.org/officeDocument/2006/relationships" id="261" r:id="R1cde4292eb974b28"/>
    <p:sldId xmlns:r="http://schemas.openxmlformats.org/officeDocument/2006/relationships" id="262" r:id="Rfbe0b4a3f5be4b64"/>
    <p:sldId xmlns:r="http://schemas.openxmlformats.org/officeDocument/2006/relationships" id="263" r:id="Rdb75393a6f824fa0"/>
    <p:sldId xmlns:r="http://schemas.openxmlformats.org/officeDocument/2006/relationships" id="264" r:id="R562691180eff42e3"/>
    <p:sldId xmlns:r="http://schemas.openxmlformats.org/officeDocument/2006/relationships" id="265" r:id="R04afa263d7cf48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9840cf46164f98" /><Relationship Type="http://schemas.openxmlformats.org/officeDocument/2006/relationships/slideMaster" Target="/ppt/slideMasters/slideMaster1.xml" Id="R5c9dc242865b42e7" /><Relationship Type="http://schemas.openxmlformats.org/officeDocument/2006/relationships/notesMaster" Target="/ppt/notesMasters/notesMaster1.xml" Id="R3e35fa6bacae42f7" /><Relationship Type="http://schemas.openxmlformats.org/officeDocument/2006/relationships/presProps" Target="/ppt/presProps.xml" Id="R08ef0f3efa374900" /><Relationship Type="http://schemas.openxmlformats.org/officeDocument/2006/relationships/tableStyles" Target="/ppt/tableStyles.xml" Id="Re5ed44512c224dc5" /><Relationship Type="http://schemas.openxmlformats.org/officeDocument/2006/relationships/slide" Target="/ppt/slides/slide1.xml" Id="R7210501857f94c5b" /><Relationship Type="http://schemas.openxmlformats.org/officeDocument/2006/relationships/slide" Target="/ppt/slides/slide2.xml" Id="Rc0d49b2bbdaa4281" /><Relationship Type="http://schemas.openxmlformats.org/officeDocument/2006/relationships/slide" Target="/ppt/slides/slide3.xml" Id="R73e6154f3fd64cf7" /><Relationship Type="http://schemas.openxmlformats.org/officeDocument/2006/relationships/slide" Target="/ppt/slides/slide4.xml" Id="R978cd1d9b57d4ce8" /><Relationship Type="http://schemas.openxmlformats.org/officeDocument/2006/relationships/slide" Target="/ppt/slides/slide5.xml" Id="R823c38e6d5a54c94" /><Relationship Type="http://schemas.openxmlformats.org/officeDocument/2006/relationships/slide" Target="/ppt/slides/slide6.xml" Id="R1cde4292eb974b28" /><Relationship Type="http://schemas.openxmlformats.org/officeDocument/2006/relationships/slide" Target="/ppt/slides/slide7.xml" Id="Rfbe0b4a3f5be4b64" /><Relationship Type="http://schemas.openxmlformats.org/officeDocument/2006/relationships/slide" Target="/ppt/slides/slide8.xml" Id="Rdb75393a6f824fa0" /><Relationship Type="http://schemas.openxmlformats.org/officeDocument/2006/relationships/slide" Target="/ppt/slides/slide9.xml" Id="R562691180eff42e3" /><Relationship Type="http://schemas.openxmlformats.org/officeDocument/2006/relationships/slide" Target="/ppt/slides/slide10.xml" Id="R04afa263d7cf48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39a33b045249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f4034a750a4222" /><Relationship Type="http://schemas.openxmlformats.org/officeDocument/2006/relationships/notesMaster" Target="/ppt/notesMasters/notesMaster1.xml" Id="R4691fc87438140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a3c5178a2541bc" /><Relationship Type="http://schemas.openxmlformats.org/officeDocument/2006/relationships/notesMaster" Target="/ppt/notesMasters/notesMaster1.xml" Id="R200358ac077d41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ed801c6591430a" /><Relationship Type="http://schemas.openxmlformats.org/officeDocument/2006/relationships/notesMaster" Target="/ppt/notesMasters/notesMaster1.xml" Id="R7b60c9c96a5c44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e4eb6194fe41a9" /><Relationship Type="http://schemas.openxmlformats.org/officeDocument/2006/relationships/notesMaster" Target="/ppt/notesMasters/notesMaster1.xml" Id="R48b535e6a19a4f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754c9121a941ac" /><Relationship Type="http://schemas.openxmlformats.org/officeDocument/2006/relationships/notesMaster" Target="/ppt/notesMasters/notesMaster1.xml" Id="Refed8651d79f49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6d597aa7674b59" /><Relationship Type="http://schemas.openxmlformats.org/officeDocument/2006/relationships/notesMaster" Target="/ppt/notesMasters/notesMaster1.xml" Id="R78e0eb7461e642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d46d4229c143b5" /><Relationship Type="http://schemas.openxmlformats.org/officeDocument/2006/relationships/notesMaster" Target="/ppt/notesMasters/notesMaster1.xml" Id="R36d023d3dd334d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773fe375f4445b" /><Relationship Type="http://schemas.openxmlformats.org/officeDocument/2006/relationships/notesMaster" Target="/ppt/notesMasters/notesMaster1.xml" Id="Re3728b40f9854f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2a62f689a24093" /><Relationship Type="http://schemas.openxmlformats.org/officeDocument/2006/relationships/notesMaster" Target="/ppt/notesMasters/notesMaster1.xml" Id="Rd91ea9e608c149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478f9aca7a4dbc" /><Relationship Type="http://schemas.openxmlformats.org/officeDocument/2006/relationships/notesMaster" Target="/ppt/notesMasters/notesMaster1.xml" Id="Rb03a6392613c4c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study as a method-development question, not a claim about the final biological limit.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experiment output: outputs/simulated_water_plexiglass/generated_four_stage_noise_grid.png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boundary is intentionally simple: the goal is to isolate noise tolerance before returning to a cell geometry.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simulator/generate_water_plexiglass_sweep.py</a:t>
            </a:r>
          </a:p>
          <a:p xmlns:a="http://schemas.openxmlformats.org/drawingml/2006/main">
            <a:r>
              <a:t>- simulator/resources/materials.json</a:t>
            </a:r>
          </a:p>
          <a:p xmlns:a="http://schemas.openxmlformats.org/drawingml/2006/main">
            <a:r>
              <a:t>- outputs/simulated_water_plexiglass/*_truth.npz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linewidth physics from visible detector scatter. Thermal noise sets the line; shot noise dominates these camera-like spectra.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simulator/core/noise.py</a:t>
            </a:r>
          </a:p>
          <a:p xmlns:a="http://schemas.openxmlformats.org/drawingml/2006/main">
            <a:r>
              <a:t>- simulator/core/spectrum.py</a:t>
            </a:r>
          </a:p>
          <a:p xmlns:a="http://schemas.openxmlformats.org/drawingml/2006/main">
            <a:r>
              <a:t>- Oscar Nieves, Noise in Stimulated Brillouin Scattering, PhD thesis (2021), equations 3.12, 3.18, 3.23, 3.27, 5.13 and 5.14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Emphasise that the plotting range exposes fit failure. It is not a rendering bug and not proof that all spatial information has vanished.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brillouin_fitting.py: lorentzian and fit_lorentzian_iterative</a:t>
            </a:r>
          </a:p>
          <a:p xmlns:a="http://schemas.openxmlformats.org/drawingml/2006/main">
            <a:r>
              <a:t>- simulator/core/scan.py: fit_scan</a:t>
            </a:r>
          </a:p>
          <a:p xmlns:a="http://schemas.openxmlformats.org/drawingml/2006/main">
            <a:r>
              <a:t>- outputs/simulated_water_plexiglass/half_water_half_plexiglass_noise_31.6228x.csv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deliberately an easy two-material case. The next experiment should reduce spectral separation and add mixed regions.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analysis/generated_water_plexiglass_grid.py</a:t>
            </a:r>
          </a:p>
          <a:p xmlns:a="http://schemas.openxmlformats.org/drawingml/2006/main">
            <a:r>
              <a:t>- brillouin_preprocessing.py</a:t>
            </a:r>
          </a:p>
          <a:p xmlns:a="http://schemas.openxmlformats.org/drawingml/2006/main">
            <a:r>
              <a:t>- scikit-learn KMeans algorithm used locally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by rows. At 0.1 s the pixel BFS map collapses, but clustering still finds the boundary and the averaged peaks remain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outputs/simulated_water_plexiglass/generated_four_stage_noise_grid.png</a:t>
            </a:r>
          </a:p>
          <a:p xmlns:a="http://schemas.openxmlformats.org/drawingml/2006/main">
            <a:r>
              <a:t>- analysis/generated_water_plexiglass_grid.py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a proposal: retain the workflow, but move from a binary easy case to progressively harder material separations and mixed boundaries.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outputs/simulated_water_plexiglass/manifest.csv</a:t>
            </a:r>
          </a:p>
          <a:p xmlns:a="http://schemas.openxmlformats.org/drawingml/2006/main">
            <a:r>
              <a:t>- outputs/simulated_water_plexiglass/generated_four_stage_noise_grid.png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limit test isolates photon statistics. A later robustness study should sweep measured laser drift rather than inventing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simulator/core/scan.py</a:t>
            </a:r>
          </a:p>
          <a:p xmlns:a="http://schemas.openxmlformats.org/drawingml/2006/main">
            <a:r>
              <a:t>- simulator/core/noise.py</a:t>
            </a:r>
          </a:p>
          <a:p xmlns:a="http://schemas.openxmlformats.org/drawingml/2006/main">
            <a:r>
              <a:t>- simulator/generate_water_plexiglass_sweep.py</a:t>
            </a:r>
          </a:p>
          <a:p xmlns:a="http://schemas.openxmlformats.org/drawingml/2006/main">
            <a:r>
              <a:t>- NIST temperature reference: https://www.nist.gov/pml/owm/si-units-temperature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exact camera and laser models used experimentally are not yet documented in the repository. These values are defensible for simulation, but hardware datasheets should replace analogues.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simulator/core/instrument.py</a:t>
            </a:r>
          </a:p>
          <a:p xmlns:a="http://schemas.openxmlformats.org/drawingml/2006/main">
            <a:r>
              <a:t>- simulator/core/spectrum.py</a:t>
            </a:r>
          </a:p>
          <a:p xmlns:a="http://schemas.openxmlformats.org/drawingml/2006/main">
            <a:r>
              <a:t>- simulator/README.md</a:t>
            </a:r>
          </a:p>
          <a:p xmlns:a="http://schemas.openxmlformats.org/drawingml/2006/main">
            <a:r>
              <a:t>- Oxford Instruments iXon Ultra specifications: https://andor.oxinst.com/downloads/uploads/andor-ixon-ultra-emccd-specifications.pdf</a:t>
            </a:r>
          </a:p>
          <a:p xmlns:a="http://schemas.openxmlformats.org/drawingml/2006/main">
            <a:r>
              <a:t>- Oxford Instruments EMCCD microscopy specifications (&lt;1 e− with EM gain): https://andor.oxinst.com/products/ixon-emccd-cameras-for-life-science</a:t>
            </a:r>
          </a:p>
          <a:p xmlns:a="http://schemas.openxmlformats.org/drawingml/2006/main">
            <a:r>
              <a:t>- HighFinesse/TOPTICA LWA-100k: https://www.toptica.com/fileadmin/Editors_English/06_company/01_news/02_press/2019/20191206_HighFinesse_100k/LWA-100k_EN.pdf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defensible conclusion: realistic enough to test algorithms and design calibration experiments, not yet sufficient to claim the instrument's true minimum exposure.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simulator/README.md: calibration tiers and caveats</a:t>
            </a:r>
          </a:p>
          <a:p xmlns:a="http://schemas.openxmlformats.org/drawingml/2006/main">
            <a:r>
              <a:t>- Oxford Instruments iXon Ultra specifications: https://andor.oxinst.com/downloads/uploads/andor-ixon-ultra-emccd-specifications.pdf</a:t>
            </a:r>
          </a:p>
          <a:p xmlns:a="http://schemas.openxmlformats.org/drawingml/2006/main">
            <a:r>
              <a:t>- HighFinesse/TOPTICA LWA-100k: https://www.toptica.com/fileadmin/Editors_English/06_company/01_news/02_press/2019/20191206_HighFinesse_100k/LWA-100k_EN.pdf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138b1aed1f42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9139be87b34958" /><Relationship Type="http://schemas.openxmlformats.org/officeDocument/2006/relationships/slideLayout" Target="/ppt/slideLayouts/slideLayout1.xml" Id="R61b0d2bc0d0744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b0d2bc0d0744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e9b47796a4a60" /><Relationship Type="http://schemas.openxmlformats.org/officeDocument/2006/relationships/notesSlide" Target="/ppt/notesSlides/notesSlide1.xml" Id="R9f0690ec6eca40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29ef669084e1f" /><Relationship Type="http://schemas.openxmlformats.org/officeDocument/2006/relationships/notesSlide" Target="/ppt/notesSlides/notesSlide2.xml" Id="Rc911da94847643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18f8c26cd46a5" /><Relationship Type="http://schemas.openxmlformats.org/officeDocument/2006/relationships/notesSlide" Target="/ppt/notesSlides/notesSlide3.xml" Id="R2a44b5b11b4046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cd5450bef455d" /><Relationship Type="http://schemas.openxmlformats.org/officeDocument/2006/relationships/notesSlide" Target="/ppt/notesSlides/notesSlide4.xml" Id="R7ad51b9e29fe4c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a236fc0c44b14" /><Relationship Type="http://schemas.openxmlformats.org/officeDocument/2006/relationships/notesSlide" Target="/ppt/notesSlides/notesSlide5.xml" Id="Rb3c852b21cd242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06003c4f849a7" /><Relationship Type="http://schemas.openxmlformats.org/officeDocument/2006/relationships/image" Target="/ppt/media/image.png" Id="R9043a6f1de104fbc" /><Relationship Type="http://schemas.openxmlformats.org/officeDocument/2006/relationships/notesSlide" Target="/ppt/notesSlides/notesSlide6.xml" Id="R28ce90bca4644a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74e376a59480f" /><Relationship Type="http://schemas.openxmlformats.org/officeDocument/2006/relationships/notesSlide" Target="/ppt/notesSlides/notesSlide7.xml" Id="R2394689b85c240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9d03c043d4362" /><Relationship Type="http://schemas.openxmlformats.org/officeDocument/2006/relationships/notesSlide" Target="/ppt/notesSlides/notesSlide8.xml" Id="Rf4968febafc64a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7e94e64a140cc" /><Relationship Type="http://schemas.openxmlformats.org/officeDocument/2006/relationships/notesSlide" Target="/ppt/notesSlides/notesSlide9.xml" Id="R9396ca3d72754e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45f3945e04ba1" /><Relationship Type="http://schemas.openxmlformats.org/officeDocument/2006/relationships/notesSlide" Target="/ppt/notesSlides/notesSlide10.xml" Id="R32e83f95549947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C9729-4BAA-414F-AC56-D5142439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88C42-1100-4564-B60F-75625A06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561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996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Testing how far exposure can be reduced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AC8EB-4495-4B3B-B676-FF310840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A known-truth water / plexiglass simulation for Brillouin spectroscopy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92855-52DB-4B00-BDF8-7DA56AD7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0537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Noise physics → BFS fitting → clustering → regional averaging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FDC9E-4EB7-4A94-B904-F7BD9C36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9715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DDECF-4A0C-4908-B967-6383E44F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1450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AAA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AAAAA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B996E-1DE6-4F2B-B889-5342B7D1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764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0.004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4F4D9-9567-4F03-8B93-BA04D7E7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48000"/>
            <a:ext cx="3829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07B8F-2686-4CAE-AEBE-9AFFC588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33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AAAA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AAAAA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55A6B-4C9A-4507-A3F5-AB6F0D45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33800"/>
            <a:ext cx="3905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 spatial redundancy recover spectra after individual-pixel fitting fails?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67704-6448-4A91-8D19-B10A8392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953125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AA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AAAA"/>
                </a:solidFill>
                <a:latin typeface="Arial"/>
                <a:ea typeface="Arial"/>
                <a:cs typeface="Arial"/>
              </a:rPr>
              <a:t>Brillouin spectroscopy noise-tolerance study</a:t>
            </a:r>
          </a:p>
        </p:txBody>
      </p:sp>
    </p:spTree>
    <p:extLst>
      <p:ext uri="{BB962C8B-B14F-4D97-AF65-F5344CB8AC3E}">
        <p14:creationId xmlns:p14="http://schemas.microsoft.com/office/powerpoint/2010/main" val="13186941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23F8EE-694C-4FC8-BEDA-671B53A2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EXPERIMENTAL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10B15-8041-4923-BB14-DC64ED65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known boundary makes every recovery step measurable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C6AB0-F001-4336-B145-B7AAF6D9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70C9E-9AFA-44B4-9D44-139FB9ED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Cell Builder truth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26927-9616-426F-8ED8-DF57FCC7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4000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C66DA-8792-492A-921E-14DF385F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657E0-52E2-4B82-9798-E8A50832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98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5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B1879-5065-4D85-A515-53607BA0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100% WATER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2D273-67D9-440D-B082-2E61F3F0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100% PLEXIGLASS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1C738-725E-4363-BE6C-75E6F7EC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576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30 × 30 pixels • 1 μm step • exact truth sidecar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6843A-B701-4912-A65B-1B869671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28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Initial exposure sweep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1BD5D6-0F6E-45FE-B15B-AD8BE3E5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526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100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5DD3A5-0D49-4F70-8A20-CE31F768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24075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906391-B16C-4D13-BE94-822140BD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526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1.00× noise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E51332-5893-47C5-8D6C-E28CA0BD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860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30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14DE3-7FAC-4173-8FA5-3679D00B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57475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853D1F-19F0-46D6-8D83-2D0AC5EC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860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1.83× noise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F97DE-A20F-4480-8E9F-30FEABA3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194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23FFFC-AF1C-47D7-A4E5-3ED9B04D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90875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353D0-4959-43D0-9E36-503153FB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194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3.16× noise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5BD70D-9F58-4BA1-A1DC-76DC9204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528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277130-2DCD-456D-AE2C-99A8F9E0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24275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F8ECA5-B6F9-41F5-AC8E-D3A954F4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528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5.77× noise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74DE1B-A5C6-4689-A263-22953768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862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 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0CE178-E5DC-426B-85E4-C9EB9A7D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57675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3AE33F-30CE-4164-B1FD-BF82716C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862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10.0× noise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B14C11-B89C-48F7-9E3C-42D8A486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196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0.3 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FC2411-D06B-44B9-8A66-1E5AF072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91075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6B4612-6A32-4920-97C9-C2FBC4B2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196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18.3× noise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C79D20-49A6-4B37-95E1-9EB3BB30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530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0.1 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8018C1-C576-4DE6-A563-50054370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24475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083D30-491E-4F62-90AB-31355A14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530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31.6× noise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0D2037-DB2E-46AD-9FA6-86551CEC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52625"/>
            <a:ext cx="16668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818B17-F35C-45BD-9A31-389B33AE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669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7F4589-0D38-41EE-8BF2-C408558D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6695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AAAAA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AAAAAA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A26A56-0945-4171-A62F-0387AE20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1336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808AB0-F6A0-4CD7-9796-36960862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4955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E1B2ED-8413-4015-8157-B122CFCD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71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m²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5FA8B2-E937-4CCF-A3F5-F7CBF727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33750"/>
            <a:ext cx="128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Signal ∝ exposure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3E1410-37DA-4E5D-B935-0FFE8161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48125"/>
            <a:ext cx="1285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Relative shot noise ∝ 1/√t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9A01C2-015C-4B21-913E-F5A3B692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207398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B23EC5-63C1-4457-9E70-52552BBE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HOW NOISE IS CALCULATED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D4FF4-7914-43EB-9792-3EA1CE97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453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simulator separates physical line broadening from detector noise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FEB53-0D27-4A75-ACF5-85C7D9E8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13818-F520-4316-9240-C16777CF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3333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52872-CEC8-43C1-8849-DB9D26FE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5245B-290A-49DA-BF24-8E63FE36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Thermal acoustic field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0739E-98A3-4858-BD4C-08861FBC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571625"/>
            <a:ext cx="3333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1DC80-917D-49ED-8BD6-5F505363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73355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4138B-B259-45FD-B82A-0B2AA7D1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38375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Laser phase noise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225E7-4F9A-4D76-901A-92EE191A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71625"/>
            <a:ext cx="3333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25E06-95F1-401C-82A2-6A198873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3355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BD8147-A022-4869-8B69-4316238D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Detector chain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FA14A-64FC-4E7C-9A3D-4720CE44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Acoustic density follows an Ornstein–Uhlenbeck process.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B0D059-3EBC-4D45-A7EA-68B590BD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285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Thermal fluctuations average over many coherence times; at realistic exposure they become negligible speckle.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27765C-6D36-4A55-B726-C566DE08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48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φ(t) = √ΔΩ · W(t)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95316B-FB05-4F73-8BD3-8B4F0D87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781425"/>
            <a:ext cx="28575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A Brownian phase walk produces Lorentzian laser broadening. Widths add analytically to the material linewidth.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3800AB-079E-4805-A72C-E0031877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Poisson shot noise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E0467B-B822-4E9B-A170-D4B275D0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43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+ dark counts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CA20A-75DB-4E62-8A97-462144BE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+ read noise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E2B7D1-4CE6-46AE-99F3-119A5CEB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339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+ EMCCD excess noise (optional)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4CE4AA-C234-4862-A453-E6E02D83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53125"/>
            <a:ext cx="11201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Exposure mainly changes detected Brillouin photons—and therefore the visible pixel-to-pixel scatter.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3BD97D-5784-42B2-817E-8BE60D19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285992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E3A274-3304-4F45-B470-9E40AA1F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BFS FITTING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97243-05D8-4953-AE2D-81BB11D8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51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At 0.1 s BFS is noisier, but no longer collapses toward 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6E745-C967-4CBD-89DB-03F74376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C24BA-CBF3-40C7-85E9-60B4A637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43050"/>
            <a:ext cx="533400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9827A-0626-4CBB-BE1C-3D8BE46C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Lorentzian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8E1AE-E9F9-4A63-8AFE-2DBFFC1C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61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I(ν) = A / [1 + ((ν − νB)/γ)²] + 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1BE4E-0C05-4771-B695-ED220038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Fit parameters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763BF-5111-475D-A3FB-B509CD19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 amplitude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νB  Brillouin frequency shift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γ  half-width at half maximum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 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27724-4CC5-4913-8040-7BDB1A3F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430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Corrected short-exposure behaviour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04C22-990E-4566-8A89-73DD9F77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F5C57-4A83-4CD1-8DB7-0DA39CE3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907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Only 0.1% of the 100 s photon budget remains.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0E8F4-F201-4E6C-B768-52EAC747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80F41E-9152-42B5-8D82-41E2A4C1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718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Elastic and Brillouin photons now both scale linearly with exposure.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9D8FE1-757E-47C6-8E5B-12DB093A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2905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1282B-D7FA-4DD2-99ED-7F7CBAB5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528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16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Read noise remains fixed per acquisition, so pixel-level BFS estimates become visibly less precise.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BD9C4-8BF9-4B78-80D6-EB3447E9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1010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62D2FC-51F0-434A-BE45-6EB10523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339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two fitted regions remain centred near 5.51 and 11.75 GHz rather than collapsing to the lower bound.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157D98-1DF4-4C7F-B8CE-6D56AA48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467350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70B83-2060-4D76-8EAC-80AA4B99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53075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earlier low-BFS expansion was a fixed-elastic-peak simulation artefact.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86BCE2-29E2-4493-8BCB-41479AF9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544983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8E512E-10A7-46C9-A874-3D91A865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GROUPING MATERIAL REGIONS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14718-6D49-42FE-815A-9C2EDFAB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0977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Clustering uses spectral shape, so it survives after single-pixel BFS fails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82CCC-7036-48FC-94DF-E6275125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47A51-D07E-45B6-A40E-2F09D0CC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9526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DB0D3-2C58-442E-B06A-37CAD6B1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10570-A4C7-4016-BFED-C0954046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A510C-9D36-44BE-B8CB-873E5DDD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Average Stokes and anti-Stokes sides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97CC8-33F6-4041-BE73-4967330C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1623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B3B43-7C70-4550-82D2-8BB53682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809750"/>
            <a:ext cx="19526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5A69B-DEFA-4352-AAF9-965E9EFE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812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6AC8F-1B77-44AD-8B5F-D1B42A50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050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Trim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DFF968-F838-4E54-989A-C791FDF5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4325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Remove Rayleigh tail; retain ≤13.3 GHz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E5E951-6E05-40B9-A6C7-8EE03723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623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1F423-E54F-4026-961B-A6C4EB08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19526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B1BEA-78C5-422B-B90E-A0B01D9A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812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27C99A-15BB-4A5C-A451-9B32BB24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050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Normalise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E99E65-E744-447B-9429-BED3CF39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4325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Subtract baseline and L1-normalise each pixel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9536DD-2670-4B78-8382-C8954C08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1623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C211DA-F4C0-42A2-88A8-4C36039D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809750"/>
            <a:ext cx="19526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F1B982-695D-449F-A02A-C719DB62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812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9FEB1-9186-4CB0-B468-34328C54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050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173E19-4AD9-451E-BEE9-15BDCB6F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4325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K-means with k = 2 on the full spectrum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389C90-0CC7-4C7A-B096-5D22BADD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623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09F6ED-2E89-449A-BC89-A5745165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09750"/>
            <a:ext cx="19526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F924DF-FA6E-4D70-A98C-A54FFFF9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812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438F28-FE1A-4BA4-AEE5-1E0ECA13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050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Match truth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0EE658-923D-486A-8C37-A81D4211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Resolve label swapping against known material truth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296BB0-C21A-4086-90B2-18FDB681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958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Why it works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8452CA-6B2C-434D-B1CC-486C6E73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72050"/>
            <a:ext cx="8810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Water and plexiglass peaks are separated by ~6.24 GHz. Even when each peak centre is too noisy to fit precisely, the complete spectral shape still carries enough information to separate the two groups.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9011C5-1428-4EAF-AA32-1AE87F7F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064246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AA12E-3356-4738-BD08-D1D0CB24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REGENERATING THE CURVES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FB7EA-D741-4AB6-9286-C5CC4ED5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04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Regional averaging reconstructs the peaks from many weak measurements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A56BE-9D43-4687-9E51-C4BEFD8F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3a6f1de104fbc"/>
          <a:stretch xmlns:a="http://schemas.openxmlformats.org/drawingml/2006/main"/>
        </p:blipFill>
        <p:spPr>
          <a:xfrm xmlns:a="http://schemas.openxmlformats.org/drawingml/2006/main">
            <a:off x="1395413" y="1352550"/>
            <a:ext cx="9401175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99536-6790-47C1-BB4C-688D8293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53125"/>
            <a:ext cx="11201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DDCBC-8AB9-419B-86AC-834F66D1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019800"/>
            <a:ext cx="1080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58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Average all spectra assigned to a region → independent noise falls approximately as 1/√N → refit or inspect the recovered material curve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11BFB-26BF-4D63-A6CD-B7522F72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986422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2793EE-5624-4021-9EA6-434FC77F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WHY THIS IS PRACTICAL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3836D-9A5C-4E50-A248-1C54A82B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Regional recovery could trade exposure for throughput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773D1-41E0-4062-8AAD-BA29FC8A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1A96B-6E71-4C57-9D23-C3C5777B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11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If the information can be accurately reproduced after grouping and averaging: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8019F-1519-4DD1-AAC5-03F24173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B52AA-2FA8-43BE-ACEA-FB83F2E8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32F00-93C0-4FF9-AC49-3A055B85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124075"/>
            <a:ext cx="776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Reduce exposure time per pixel without immediately losing material-level spectra.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D7CEA-716B-4C44-8FA9-9BA7398B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289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75871-DA78-42F4-9A80-074BD049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194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1E4C0-1508-4B5F-893B-5CCAD293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809875"/>
            <a:ext cx="776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Generate more samples—or scan larger fields—in the same instrument 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48C76-51D2-41E0-9202-9F3D61AC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3E33D-2CE9-4060-9325-AE02AE48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052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5379A-C296-44FC-9048-B1BE7435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95675"/>
            <a:ext cx="776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known-truth simulations to choose an exposure before committing biological samples.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AC4C0-DA2E-431B-B733-7F31934C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005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A71591-E192-4B6E-826A-EEE4C85B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910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8B2E31-17FC-4D5A-A4B2-4B364B6E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181475"/>
            <a:ext cx="776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36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Define acceptance thresholds for region accuracy, BFS error and Lorentzian fit quality.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A0C24-5515-4CC5-AC95-36ED7555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863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7C12E1-39B2-4382-98DA-04B99081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768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A23094-2ED5-41D7-A4FC-69B0E3A0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867275"/>
            <a:ext cx="776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470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Validate the selected exposure on real repeated scans before adopting it experimentally.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29333-0F82-4B4E-888D-D4B0509F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85925"/>
            <a:ext cx="17907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AEBEE1-B490-4717-B78F-2BAF0EC9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047875"/>
            <a:ext cx="1562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4–5 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20B38A-BB98-4A12-9905-CA9E8FDF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62250"/>
            <a:ext cx="140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observed boundary in this binary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D528F2-B4B4-4F29-924D-F9FF6B92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195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A73819-27C5-4FD6-8BB0-804F2F4D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57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Next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32DDFB-C105-46F2-BC8F-21D36309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67200"/>
            <a:ext cx="1409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414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is the shortest exposure that remains reliable for less-separated biological materials?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A38DC1-2820-4298-A89F-F2E7D54A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227587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96B1C8A-37F3-4CB1-B4B0-C54E78A7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PARAMETER AUDIT • 1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1C263-71D2-4FF6-8B50-EB766BBA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95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Every stochastic and acquisition control used in the limit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2D4D5-9D28-483D-8780-2DAB6C8E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A561B-F7BC-4252-9B2B-82A4D96D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6A6B8-1358-4EA8-9723-F5AC36AB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Parameter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395EB-B7B4-47E0-8591-3900E349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76375"/>
            <a:ext cx="2305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B0BEA-1CBE-4003-80C3-C0556784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049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 used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BB6C9-92F2-4DE8-B141-8ED60438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76375"/>
            <a:ext cx="2971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A6BC3-AE03-49FB-A6E3-2D5EC22F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5049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Where it enters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2EA0A-80CD-4758-B17C-FE407C65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76375"/>
            <a:ext cx="2933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06CF6-A317-4646-B68A-CA5A1BA9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049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533F8-2865-455A-A252-6033EF0F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14525"/>
            <a:ext cx="2476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B95F3-CE50-418F-870A-5E996CB3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247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Exposure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61074F-8216-4853-A9F0-1DE7D06E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14525"/>
            <a:ext cx="2305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0F65D0-FF5B-4A45-8D0C-B54C69E1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4310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0.030 → 0.004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C6A7C-2B93-441E-950C-AD62AFD2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14525"/>
            <a:ext cx="2971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360AAD-F735-4D24-A743-66E5BD54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43100"/>
            <a:ext cx="2743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Signal + dark accumulation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08A48-BCEA-4881-9F76-FE2A8A77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14525"/>
            <a:ext cx="29337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6BA7E-57C2-4687-9C7B-7CD546C9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43100"/>
            <a:ext cx="2705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Test variable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56037B-149D-4030-8EB3-FFA8F4DA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2476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6C436E-8F4D-45E3-957B-6FDFDAA4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2247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Temperature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E1B4DC-A094-4852-890F-6DCEB9C0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2305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6296C7-7E67-426B-845F-1D3FA95F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098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300 K (26.85 °C)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B7AF6F-99AA-4C24-9759-1847DF9D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81250"/>
            <a:ext cx="2971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D4C89A-1396-455E-BAF8-F3F99B34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9825"/>
            <a:ext cx="2743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Thermal signal scaling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B4CF51-AD13-49D7-A16A-DC719070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29337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F8E99F-A4C5-45F6-9FB2-171D73A6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09825"/>
            <a:ext cx="2705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Plausible ambient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025624-C09E-4386-ABBE-5A176067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47975"/>
            <a:ext cx="2476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AFACAA-CB34-476F-A580-425D753A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2247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Thermal speckle modes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B2A6F5-962F-4F64-B899-E32EAAB0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47975"/>
            <a:ext cx="2305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CF5279-2E4B-476C-8A87-9919DD92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765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Auto: t / coherence time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C1A513-9E98-45B3-A1F5-B8F2F5EE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47975"/>
            <a:ext cx="2971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848EAB-639D-4013-A25B-509E0A92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76550"/>
            <a:ext cx="2743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Gamma-distributed OU power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AFD18A-7311-4C05-A0B0-88E174AA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47975"/>
            <a:ext cx="29337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1973C8-C464-448F-BAAE-4B84D80F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76550"/>
            <a:ext cx="2705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Physics-derived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F17671-FC91-49D7-A695-A8F35C43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14700"/>
            <a:ext cx="2476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7062DA-8D1D-4F82-A329-004D6599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247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BFS jitter / slow drift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B9073F-0C5A-48AD-8C0E-24689C0E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14700"/>
            <a:ext cx="2305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920684-006A-4896-B7BD-F83D31B2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4327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 MHz rms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983AD3-0608-41AB-9358-90610F9C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14700"/>
            <a:ext cx="2971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6A4434-19E0-4824-A0EB-5F545FE5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43275"/>
            <a:ext cx="2743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Per-pixel common shift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C25C9F-2A47-4FF3-BDE6-2E498341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14700"/>
            <a:ext cx="29337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9F4D64-C275-4596-8A06-43EA9B28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43275"/>
            <a:ext cx="2705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Disabled to isolate SNR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45CB93-440C-4AE8-B01D-FF63EECA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81425"/>
            <a:ext cx="2476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45F9E4-3D75-4DD4-B7F9-25BD1F0A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247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Random seeds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6E6451-1993-4C32-B2E0-0B4F97D7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81425"/>
            <a:ext cx="2305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B161C1-A34C-4BBE-B9E2-143AE3A6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1000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20260824 + level index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E7FD394-8964-473E-84E5-F8C99E90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81425"/>
            <a:ext cx="2971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AF6AC4-3BD8-49E0-8DD7-640C7CFF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10000"/>
            <a:ext cx="2743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All stochastic draws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A0077E-8D81-48FF-A424-EDF6C077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81425"/>
            <a:ext cx="29337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0A1BFC-EC09-47CD-8AE4-3445A05B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10000"/>
            <a:ext cx="2705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Recorded / reproducible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37C521-DC86-41F4-8619-D77D5C98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48150"/>
            <a:ext cx="2476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EABB95-F1EB-45AC-AD73-7D58B665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2247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PSF FWHM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09D0526-1893-48F1-8DBE-E3681047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48150"/>
            <a:ext cx="2305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0CD8D8C-5F22-4225-8854-D5259956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767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0.60 μm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89BF4D6-AF2D-42CE-9EB8-100B1584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48150"/>
            <a:ext cx="2971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785A101-E306-4BE3-B3CC-DF8E99A1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76725"/>
            <a:ext cx="2743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Boundary mixing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249AFB8-9FE1-4867-BCB5-DFB4628A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48150"/>
            <a:ext cx="29337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FFD494D-1A43-4ECD-A137-9031623A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76725"/>
            <a:ext cx="2705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Plausible confocal spot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CF7E8CB-90B0-4332-8D2C-ADAC5E21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14875"/>
            <a:ext cx="2476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8636FA3-5B21-4B9F-8637-0B7E17F9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247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Grid / step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DF1E4F6-08BB-4D0A-B2D3-205BD74A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14875"/>
            <a:ext cx="2305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33E7658-FBD5-489E-8DE0-018258A7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434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30 × 30 / 1 μm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D9BC52A-5CB3-4CA2-8EAF-6DE2979C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14875"/>
            <a:ext cx="2971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34D3178-0CA2-46E2-B882-9F4CE438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43450"/>
            <a:ext cx="2743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900 spectra per scan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21C8C40-1AB0-477C-A8CA-032593F4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14875"/>
            <a:ext cx="29337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2222183-DA99-4BA4-AFFC-C1F86C39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43450"/>
            <a:ext cx="2705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Experimental design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0EC836F-C1DD-4BCC-8A1A-39E4FB57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81600"/>
            <a:ext cx="2476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08B69D6-ED3A-41BB-A5A3-02B4A953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2247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Temperature scaling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F2AF3CF-CB15-43EC-B08D-50A041F9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81600"/>
            <a:ext cx="2305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62033E4-1CFB-4B9C-8AAC-E539F09A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1017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Enabled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819C456-AA1C-4370-998E-6529EA02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81600"/>
            <a:ext cx="2971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6462945-F9E1-4E41-AFBD-B8C65389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210175"/>
            <a:ext cx="2743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Material peak area ∝ 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19B1761-3A90-423E-8634-8D7DBC72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81600"/>
            <a:ext cx="29337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DF908FA-018C-4786-8900-26FC4462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0175"/>
            <a:ext cx="2705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Thermal model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0DF5864-E94A-40A1-8242-619E59BB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48325"/>
            <a:ext cx="2476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2917297-1EDF-4C40-BE03-9F2AA85F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2247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Conserve peak area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0F5C7F0-A9BE-42A7-A784-A1BF5C6A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48325"/>
            <a:ext cx="2305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DCC7A1F-18A3-4107-90B0-14CE43A5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67690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D69FF0B-F2A7-4C78-A991-721E6F1A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48325"/>
            <a:ext cx="2971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F2A1FBB-053E-4ED5-8E7E-CF8A6BD0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676900"/>
            <a:ext cx="2743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Material efficiencies retained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31FA137-75FD-432A-AE88-8FF1AE22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648325"/>
            <a:ext cx="29337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D73034B-F6A5-4EB4-A471-E5C7B5F2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676900"/>
            <a:ext cx="2705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Realistic brightness contrast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9A3F748-1840-40D6-BD10-E3A7A04E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67450"/>
            <a:ext cx="11201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BCDB330-4160-4F3B-8220-2210E9C1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7697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Drift = 0 is an intentional controlled-test assumption—not a claim that the real laser has zero drift.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7499961-B2F0-445B-8504-9E6C96BA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232389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0CEE5E1-D176-4052-B544-3D626344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PARAMETER AUDIT • 2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45600-1A2F-49E5-A593-F95D25A1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741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Optical response and detector values are explicit—and not equally validated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3A609-4D8B-4CA3-97F7-5FD79FAA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E82BD-A369-41AC-883D-03938A40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Optical and spectral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62067-B91D-4851-80EA-2221D485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1857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F3AAC-EB7D-42D5-AD5D-79EE170F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704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Parameter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7EC90-A875-4366-8CF1-B7A03622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7907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22A92-A31F-4851-B8F8-3D4E60CF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8097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5ADD4-C438-4C9B-BC34-EA9D1499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790700"/>
            <a:ext cx="1476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B9C59-C92E-4538-85DD-A3006EDD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09750"/>
            <a:ext cx="1323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D1895-9EC4-460D-A8DE-8C43FC40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1857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96F7D7-6D88-4B75-9000-80220E6D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Laser wavelength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8713A-F564-43C2-999E-665B4C2C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152650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84C6B-4468-49F3-BBE5-36F3456E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181225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720 nm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B8CF4B-0E39-4DB7-A295-63B25228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152650"/>
            <a:ext cx="1476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14EEEB-E1A0-4F48-BDF0-7E44A852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81225"/>
            <a:ext cx="132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Back-solved assumption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9D731A-BD2A-49F0-A0AC-59F182AA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38425"/>
            <a:ext cx="1857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00E9C1-9B84-4EFB-9FBB-F348ABAD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Scattering angle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306201-AE04-4EFE-A6F5-7544C748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638425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5C7FF7-4898-4B02-8F7E-13F74FF0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67000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180°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FD2FE7-79D7-47FC-BDCC-0DBA96AF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638425"/>
            <a:ext cx="1476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DAE575-EBAF-47CD-8A7F-DCC60F2F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67000"/>
            <a:ext cx="132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Backscatter geometry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8954B5-1024-47DF-949B-00095C14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24200"/>
            <a:ext cx="1857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88D244-C72D-431D-8842-09CCDABE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2775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Laser linewidth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AA43B8-A94C-42F1-8F82-FEA4CDFB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124200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C74F3F-A27F-4554-8348-A77E9662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152775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0.10 MHz FWHM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B87F93-24AB-4529-B100-4814BF47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24200"/>
            <a:ext cx="1476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D83E14-F162-48BA-8A17-7907BD49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52775"/>
            <a:ext cx="132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Plausible narrow laser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1D395B-231A-4737-88B7-FCBA6CD2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9975"/>
            <a:ext cx="1857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3201BC-CA42-4F65-917F-DF88ABB3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Spectrometer Lorentzian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CF5E5D-D744-445F-975F-B101189E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609975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5AC4D1-4FA8-4936-AB5A-D761CA0F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38550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0.040 GHz FWHM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B70912-19BA-4D24-82A6-0F9D7EF4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09975"/>
            <a:ext cx="1476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12BB15-0E5C-44E0-8A62-4A0857B9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638550"/>
            <a:ext cx="132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Model choice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E9BC85-0262-4A2E-9EFA-F69D09CF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1857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8B2346-883B-412E-BBC3-DA7CBCE1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24325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Spectrometer Gaussian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D99C7E-FC08-4324-A932-8AFB96D9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095750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F00003-B95B-455B-80F1-10FCE006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24325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0.400 GHz FWHM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F6920E-622B-4CD7-B8D5-F9473037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095750"/>
            <a:ext cx="1476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73E5ED-232B-4B08-B3D9-D98F0119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24325"/>
            <a:ext cx="132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Fit to local line shape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D8E9F5-FFDC-4203-81ED-71A1340B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81525"/>
            <a:ext cx="1857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65788-6C7E-4223-9501-F7456F1D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Elastic intrinsic width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563C77-D6E1-4FD9-B56C-E7BEFC73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581525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748C0D-B075-41F0-B54B-F6F6A6FD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610100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0.030 GHz FWHM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23FE47-D7E5-4EC1-97BD-1C835772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581525"/>
            <a:ext cx="1476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0EAA14-4D97-45B2-9A2B-E66C9554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610100"/>
            <a:ext cx="132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Model choice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055440-7CF1-4C30-A225-B01E87FC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1857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E3F40A-32F9-4AFF-90CD-86733260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Frequency axis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497FCE-621E-422D-93A3-84C66554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067300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122CD3-3C9D-48D7-AFBE-706E4BC2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095875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−14.9 to +14.9 GHz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A625AC-C817-485F-B6C9-BBDF1DB8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067300"/>
            <a:ext cx="1476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86761A-C77F-4BEF-AB8B-5B56FFB3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95875"/>
            <a:ext cx="132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Matched local CSVs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16E182-2594-4D71-B6FE-1D8A1658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53075"/>
            <a:ext cx="1857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5483BC-D2AE-4FD2-A0AF-8FB8E0C3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Fit markers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499C5E-4F18-4168-A4AF-862A3A4B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553075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EAC494F-994B-445C-B015-755A271F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581650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3.0 to 13.2 GHz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DA648C6-4FB2-4983-A99D-AD66BFCB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553075"/>
            <a:ext cx="1476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CC3EFEA-0F0B-4BAC-8260-2E101213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581650"/>
            <a:ext cx="132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Expanded for PMMA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663A8A6-6688-4FC4-BDC1-1D6C40F4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Photon and detector chain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99572C1-B697-4AFF-AF8A-CF1E3AE4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1857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53C4FC1-169A-4806-AF2E-5E101213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1704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Parameter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F0A7F5A-042A-4A88-8CBE-FBBCB9FB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907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C64144-FFE5-4B64-BAB1-56E4D3CD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8097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AF8741A-C886-4FB3-9375-CDF1488C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790700"/>
            <a:ext cx="1476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A768D39-D6F3-4261-9518-30AC3C3E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1809750"/>
            <a:ext cx="1323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status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7B585AE-3038-4824-BA8F-A4B8D3EE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1857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A6BB588-1F06-460E-942B-E025CAFC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81225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Brillouin photon rate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88BCD1A-5D09-4360-9C50-E06B69DA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52650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7046687-ABF7-44D2-AD4E-946D4855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181225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1900 counts s⁻¹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D00D070-72B3-44C4-81AF-6005F963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152650"/>
            <a:ext cx="1476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EC38375-AC10-4F8A-A320-CE73A7AB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81225"/>
            <a:ext cx="132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Calibrated to local scans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DADA9B4-5078-4026-A0FE-05C69231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38425"/>
            <a:ext cx="1857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6B9D99A-DCA9-463C-B34B-83DA3E9B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67000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Elastic peak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A26CBC9-FB79-4956-AB11-4E897501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38425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FD84F3E-F3F0-47CA-A863-CF4B6935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667000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30,000 counts @ 15 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CB43F67-6E4A-4E5B-B20C-5B495EF2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638425"/>
            <a:ext cx="1476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862C20C-8C3C-48B1-9C42-B6FA01AB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667000"/>
            <a:ext cx="132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Calibrated; scales with 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7511809-B287-4151-80AA-B1839741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1857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C7967B1-C847-444D-9CD2-E60C0D8D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52775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Dark/background rate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51A6F1C-7154-4209-BFBE-0F24714F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24200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0164BFE-35A8-4975-BEAE-C955A7A9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52775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0.12 count ch⁻¹ s⁻¹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AC7C33A-C5C0-4056-BB9E-93CDCBDC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124200"/>
            <a:ext cx="1476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0FE81AD-6CDF-4AA9-8D52-4052CDF5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152775"/>
            <a:ext cx="132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Conservative effective value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35A555E-17FB-4F81-8736-7973B9B2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9975"/>
            <a:ext cx="1857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01DEB22-966A-45AB-80C5-E446E88A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38550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Read noise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01EE756-4875-4531-BE04-AE805F9C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9975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212776C-7987-4960-97A5-5B16CB2D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638550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0.8 count rms / read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E1C8DCA-6A60-4E53-96E2-0DE553C0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609975"/>
            <a:ext cx="1476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37491DB-1B60-4DFA-BE85-47DDD2F3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638550"/>
            <a:ext cx="132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Plausible with EM gain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B02CD4A-2EF9-4EE5-A9A6-38A9427F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1857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42EAF11-289C-4230-9525-6C29EAE3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24325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Excess noise factor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98E7795-D87B-4012-9E5A-D2892FE7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8D6D193-BF89-4616-A029-F2356810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124325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3024A69-B372-4C08-BD26-52BDADB1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095750"/>
            <a:ext cx="1476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7585D38-6112-4918-A4B2-AAF94D25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24325"/>
            <a:ext cx="132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Photon-counting idealisation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488D970-24BA-4AF1-A0D8-70055775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81525"/>
            <a:ext cx="1857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2A6584E-5A6C-4062-BD2D-48B25F39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10100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Baseline offset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9743A86-B51A-407A-8C37-A9342C17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581525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DCF5D4D-BBC9-40B8-8CE0-EBEBF7F9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610100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 count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FB47E1F-B624-4B2C-ADD2-25775522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581525"/>
            <a:ext cx="1476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E8B10B3-513D-4B8C-861E-4A6B9878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610100"/>
            <a:ext cx="132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Disabled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F40A30C-2D46-4AB5-B605-9BF46DE1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67300"/>
            <a:ext cx="1857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07917BC-1869-414F-A993-9CE1C59D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95875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Shot noise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6640587-4376-4C7B-AB04-2C341076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067300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2AB55BB-3257-4B13-981E-6A266DBA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095875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Poisson(signal + dark)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9F0E42F-0F25-434A-8B45-6EFA4E64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067300"/>
            <a:ext cx="1476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1582184-E324-40C8-8485-A44DB7B0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5095875"/>
            <a:ext cx="132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Active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7918B58-7585-4267-A9C0-4AA5E491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53075"/>
            <a:ext cx="1857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7AAE388-0F40-4623-A09F-AB73C891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81650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Digitisation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37A6414-4CE4-41C2-943F-1AD62D5A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553075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E516B01-2B0F-4119-B70D-FC0571F5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581650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Round; clip at zero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4D9ADA3-617A-4106-8D16-28E1E02A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553075"/>
            <a:ext cx="1476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6D09FCF-4FB9-455C-98D4-4766FB83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5581650"/>
            <a:ext cx="132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Active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628B630-F6B3-4940-A7E7-C98BEC30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416583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8E104-3E22-4514-AE95-C0146C44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WHAT “REALISTIC” MEANS HERE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1B829-CA7B-46B5-8E7B-AA8EE819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455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model is physically plausible; the instrument-specific audit is still required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16B3E-D4E2-43FC-B317-92B5D606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49E5B-618C-4A9E-B2E6-1E18865B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3333750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88A72-F49F-47A0-842C-CFC2C959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3333750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CD4F2-FD8B-4E5F-8F3D-D2CCE8EB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71625"/>
            <a:ext cx="3333750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3A52C-2CFA-4948-B1AD-3B7533FF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3DF40-2353-4FC3-987C-66DD2DB1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266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Local frequency axis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Water / PMMA BFS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Peak-count calibration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Exposure scaling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Poisson statistics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7E33A-98B5-4D1C-9992-983AB95D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8288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PLAUSIBLE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621EB-7066-4DCA-91C6-90C60878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28875"/>
            <a:ext cx="266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300 K temperature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100 kHz laser linewidth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0.8-count read noise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0.6 μm PSF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Voigt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11A5F-E9AA-4E0F-9827-585673B9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288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NOT YET VALIDATED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3F536C-5287-4FEA-AA69-DDFDCF66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28875"/>
            <a:ext cx="266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Actual camera model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Measured dark/background rate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Measured laser drift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Instrument response split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720 nm wavelength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6FC76-03B9-4579-8F04-BA5B63C0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578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73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Required before claiming a real exposure limit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505C9-964E-491F-8A93-77658A69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715000"/>
            <a:ext cx="6696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28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Record hardware specifications and dark frames; measure repeated-reference BFS drift; refit the simulator; then repeat the threshold sweep with replicates.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323CC4-1596-4FD3-808C-B6ECB110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042180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2026-08-24T04:38:44.1570000Z</dcterms:created>
  <dcterms:modified xsi:type="dcterms:W3CDTF">2026-08-24T04:38:44.1570000Z</dcterms:modified>
</coreProperties>
</file>